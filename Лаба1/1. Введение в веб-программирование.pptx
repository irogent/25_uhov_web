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2000"/>
  <p:notesSz cx="6858000" cy="9144000"/>
  <p:embeddedFontLst>
    <p:embeddedFont>
      <p:font typeface="Candara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u19xg+90k5dhMo2iF2Dx6IQV3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69C2B9-8E2D-4273-BD73-7E38C941B6B4}">
  <a:tblStyle styleId="{6069C2B9-8E2D-4273-BD73-7E38C941B6B4}" styleName="Table_0">
    <a:wholeTbl>
      <a:tcTxStyle b="off" i="off">
        <a:font>
          <a:latin typeface="Candara"/>
          <a:ea typeface="Candara"/>
          <a:cs typeface="Candar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fill>
          <a:solidFill>
            <a:srgbClr val="CA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4EA"/>
          </a:solidFill>
        </a:fill>
      </a:tcStyle>
    </a:band1V>
    <a:band2V>
      <a:tcTxStyle b="off" i="off"/>
    </a:band2V>
    <a:lastCol>
      <a:tcTxStyle b="on" i="off">
        <a:font>
          <a:latin typeface="Candara"/>
          <a:ea typeface="Candara"/>
          <a:cs typeface="Candar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ndara"/>
          <a:ea typeface="Candara"/>
          <a:cs typeface="Candar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Candara-bold.fntdata"/><Relationship Id="rId12" Type="http://schemas.openxmlformats.org/officeDocument/2006/relationships/slide" Target="slides/slide7.xml"/><Relationship Id="rId56" Type="http://schemas.openxmlformats.org/officeDocument/2006/relationships/font" Target="fonts/Candara-regular.fntdata"/><Relationship Id="rId15" Type="http://schemas.openxmlformats.org/officeDocument/2006/relationships/slide" Target="slides/slide10.xml"/><Relationship Id="rId59" Type="http://schemas.openxmlformats.org/officeDocument/2006/relationships/font" Target="fonts/Candara-boldItalic.fntdata"/><Relationship Id="rId14" Type="http://schemas.openxmlformats.org/officeDocument/2006/relationships/slide" Target="slides/slide9.xml"/><Relationship Id="rId58" Type="http://schemas.openxmlformats.org/officeDocument/2006/relationships/font" Target="fonts/Candara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81d8c7ce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3c81d8c7ce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1"/>
          <p:cNvSpPr txBox="1"/>
          <p:nvPr>
            <p:ph type="ctrTitle"/>
          </p:nvPr>
        </p:nvSpPr>
        <p:spPr>
          <a:xfrm>
            <a:off x="1524000" y="126960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ndara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1"/>
          <p:cNvSpPr txBox="1"/>
          <p:nvPr>
            <p:ph idx="1" type="subTitle"/>
          </p:nvPr>
        </p:nvSpPr>
        <p:spPr>
          <a:xfrm>
            <a:off x="1524000" y="37980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1"/>
          <p:cNvSpPr txBox="1"/>
          <p:nvPr>
            <p:ph idx="2" type="body"/>
          </p:nvPr>
        </p:nvSpPr>
        <p:spPr>
          <a:xfrm>
            <a:off x="114300" y="5735637"/>
            <a:ext cx="3296810" cy="1023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2" type="sldNum"/>
          </p:nvPr>
        </p:nvSpPr>
        <p:spPr>
          <a:xfrm>
            <a:off x="16234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Номер слайда</a:t>
            </a:r>
            <a:endParaRPr/>
          </a:p>
        </p:txBody>
      </p:sp>
      <p:sp>
        <p:nvSpPr>
          <p:cNvPr id="20" name="Google Shape;20;p52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2" type="body"/>
          </p:nvPr>
        </p:nvSpPr>
        <p:spPr>
          <a:xfrm>
            <a:off x="7156174" y="6369049"/>
            <a:ext cx="4873901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 b="0" i="0" sz="4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0"/>
          <p:cNvSpPr txBox="1"/>
          <p:nvPr>
            <p:ph idx="12" type="sldNum"/>
          </p:nvPr>
        </p:nvSpPr>
        <p:spPr>
          <a:xfrm>
            <a:off x="16234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Номер слайда</a:t>
            </a:r>
            <a:endParaRPr/>
          </a:p>
        </p:txBody>
      </p:sp>
      <p:sp>
        <p:nvSpPr>
          <p:cNvPr id="12" name="Google Shape;12;p50"/>
          <p:cNvSpPr txBox="1"/>
          <p:nvPr>
            <p:ph idx="1" type="body"/>
          </p:nvPr>
        </p:nvSpPr>
        <p:spPr>
          <a:xfrm>
            <a:off x="838201" y="1976850"/>
            <a:ext cx="10515600" cy="3756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microformats.org/wiki/existing-rel-value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Relationship Id="rId7" Type="http://schemas.openxmlformats.org/officeDocument/2006/relationships/image" Target="../media/image30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ithub.com/UlfSct/1_Sidorenko_Web.git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htmlbook.ru/" TargetMode="External"/><Relationship Id="rId4" Type="http://schemas.openxmlformats.org/officeDocument/2006/relationships/hyperlink" Target="https://github.com/UlfSct/html-compendium_RU" TargetMode="External"/><Relationship Id="rId5" Type="http://schemas.openxmlformats.org/officeDocument/2006/relationships/hyperlink" Target="https://basicweb.ru/css/css_ref.php" TargetMode="External"/><Relationship Id="rId6" Type="http://schemas.openxmlformats.org/officeDocument/2006/relationships/hyperlink" Target="http://xahlee.info/js/css_index.html" TargetMode="External"/><Relationship Id="rId7" Type="http://schemas.openxmlformats.org/officeDocument/2006/relationships/hyperlink" Target="https://developer.mozilla.org/ru/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1524000" y="126960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ndara"/>
              <a:buNone/>
            </a:pPr>
            <a:r>
              <a:rPr lang="en-US" sz="6000"/>
              <a:t>1. Введение в веб-программирование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1524000" y="37980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История развития. Базовые HTML и CSS.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" name="Google Shape;28;p1"/>
          <p:cNvSpPr txBox="1"/>
          <p:nvPr>
            <p:ph idx="2" type="body"/>
          </p:nvPr>
        </p:nvSpPr>
        <p:spPr>
          <a:xfrm>
            <a:off x="114300" y="5735637"/>
            <a:ext cx="3803276" cy="1023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532094" cy="1941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Структура курса и разбаловка</a:t>
            </a:r>
            <a:endParaRPr/>
          </a:p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</a:t>
            </a:r>
            <a:endParaRPr sz="2800"/>
          </a:p>
        </p:txBody>
      </p:sp>
      <p:sp>
        <p:nvSpPr>
          <p:cNvPr id="36" name="Google Shape;36;p2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Фронтенд-часть (1-8 недели): 30 баллов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Бэкенд-часть (9-16 недели): 30 баллов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(Проект/зачёт ???): 40 баллов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37" name="Google Shape;37;p2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Что такое веб-программирование?</a:t>
            </a:r>
            <a:endParaRPr/>
          </a:p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</a:t>
            </a:r>
            <a:endParaRPr/>
          </a:p>
        </p:txBody>
      </p:sp>
      <p:sp>
        <p:nvSpPr>
          <p:cNvPr id="44" name="Google Shape;44;p3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Веб-программирование — это процесс создания веб-сайтов и веб-приложений, которые работают в интернете.</a:t>
            </a:r>
            <a:endParaRPr/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2964" y="3098799"/>
            <a:ext cx="9126071" cy="264477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История развития</a:t>
            </a:r>
            <a:endParaRPr/>
          </a:p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</a:t>
            </a:r>
            <a:endParaRPr sz="2800"/>
          </a:p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838200" y="1852613"/>
            <a:ext cx="4459941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1991 г. – первая версия HTML, поддерживающая исключительно текстовые страницы</a:t>
            </a:r>
            <a:endParaRPr/>
          </a:p>
        </p:txBody>
      </p:sp>
      <p:pic>
        <p:nvPicPr>
          <p:cNvPr descr="Yahoo! homepage on Stanford servers (1994)"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0956" y="1606303"/>
            <a:ext cx="5722844" cy="422165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История развития</a:t>
            </a:r>
            <a:endParaRPr/>
          </a:p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5</a:t>
            </a:r>
            <a:endParaRPr/>
          </a:p>
        </p:txBody>
      </p:sp>
      <p:sp>
        <p:nvSpPr>
          <p:cNvPr id="62" name="Google Shape;62;p5"/>
          <p:cNvSpPr txBox="1"/>
          <p:nvPr>
            <p:ph idx="1" type="body"/>
          </p:nvPr>
        </p:nvSpPr>
        <p:spPr>
          <a:xfrm>
            <a:off x="838200" y="1852613"/>
            <a:ext cx="4459941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1994г. – HTML 2.0, появление таблиц</a:t>
            </a:r>
            <a:endParaRPr/>
          </a:p>
        </p:txBody>
      </p:sp>
      <p:pic>
        <p:nvPicPr>
          <p:cNvPr descr="Yahoo! homepage (1995)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0153" y="1151394"/>
            <a:ext cx="5254718" cy="513147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История развития</a:t>
            </a:r>
            <a:endParaRPr/>
          </a:p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6</a:t>
            </a:r>
            <a:endParaRPr/>
          </a:p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838200" y="1852613"/>
            <a:ext cx="4459941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1995г. – Появление первых версий JS и PHP, HTML 3.0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1996г. – релиз CSS и Flash</a:t>
            </a:r>
            <a:endParaRPr sz="2800"/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3988" y="1690688"/>
            <a:ext cx="5889812" cy="392654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История развития</a:t>
            </a:r>
            <a:endParaRPr/>
          </a:p>
        </p:txBody>
      </p:sp>
      <p:sp>
        <p:nvSpPr>
          <p:cNvPr id="79" name="Google Shape;79;p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7</a:t>
            </a:r>
            <a:endParaRPr/>
          </a:p>
        </p:txBody>
      </p:sp>
      <p:sp>
        <p:nvSpPr>
          <p:cNvPr id="80" name="Google Shape;80;p7"/>
          <p:cNvSpPr txBox="1"/>
          <p:nvPr>
            <p:ph idx="1" type="body"/>
          </p:nvPr>
        </p:nvSpPr>
        <p:spPr>
          <a:xfrm>
            <a:off x="838200" y="1852613"/>
            <a:ext cx="4459941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1997г. – HTML 4.0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1998г. – CSS2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1999г. – HTML 4.1, CSS3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2014г. – HTML 5</a:t>
            </a:r>
            <a:endParaRPr/>
          </a:p>
        </p:txBody>
      </p:sp>
      <p:pic>
        <p:nvPicPr>
          <p:cNvPr descr="Yahoo! homepage (2000)"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800" y="1437069"/>
            <a:ext cx="4553790" cy="456012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История развития</a:t>
            </a:r>
            <a:endParaRPr/>
          </a:p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8</a:t>
            </a:r>
            <a:endParaRPr sz="2800"/>
          </a:p>
        </p:txBody>
      </p:sp>
      <p:pic>
        <p:nvPicPr>
          <p:cNvPr descr="Picture background" id="89" name="Google Shape;8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821" y="1852613"/>
            <a:ext cx="10218357" cy="372903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Основные инструменты</a:t>
            </a:r>
            <a:endParaRPr/>
          </a:p>
        </p:txBody>
      </p:sp>
      <p:sp>
        <p:nvSpPr>
          <p:cNvPr id="96" name="Google Shape;96;p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9</a:t>
            </a:r>
            <a:endParaRPr/>
          </a:p>
        </p:txBody>
      </p:sp>
      <p:pic>
        <p:nvPicPr>
          <p:cNvPr descr="Picture background" id="97" name="Google Shape;9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949" y="1349725"/>
            <a:ext cx="8420101" cy="471525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10</a:t>
            </a:r>
            <a:endParaRPr/>
          </a:p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838200" y="1852613"/>
            <a:ext cx="4253753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HTML (от английского HyperText Markup Language) — это язык гипертекстовой разметки.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Составляет каркас сайта, определяет его структуру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Состоит из </a:t>
            </a:r>
            <a:r>
              <a:rPr b="1" lang="en-US" sz="2800"/>
              <a:t>тегов </a:t>
            </a:r>
            <a:r>
              <a:rPr lang="en-US" sz="2800"/>
              <a:t>и </a:t>
            </a:r>
            <a:r>
              <a:rPr b="1" lang="en-US" sz="2800"/>
              <a:t>атрибутов.</a:t>
            </a:r>
            <a:endParaRPr sz="2800"/>
          </a:p>
        </p:txBody>
      </p:sp>
      <p:sp>
        <p:nvSpPr>
          <p:cNvPr id="106" name="Google Shape;106;p10"/>
          <p:cNvSpPr/>
          <p:nvPr/>
        </p:nvSpPr>
        <p:spPr>
          <a:xfrm>
            <a:off x="6382871" y="1997839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"ru"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Название страницы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Хоспаде, шо я накодив...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Классификация тегов</a:t>
            </a:r>
            <a:endParaRPr/>
          </a:p>
        </p:txBody>
      </p:sp>
      <p:sp>
        <p:nvSpPr>
          <p:cNvPr id="113" name="Google Shape;113;p1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11</a:t>
            </a:r>
            <a:endParaRPr/>
          </a:p>
        </p:txBody>
      </p:sp>
      <p:pic>
        <p:nvPicPr>
          <p:cNvPr descr="Парные и одиночные теги" id="114" name="Google Shape;114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1187" y="1440663"/>
            <a:ext cx="7169625" cy="492911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Классификация атрибутов</a:t>
            </a:r>
            <a:endParaRPr/>
          </a:p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12</a:t>
            </a:r>
            <a:endParaRPr/>
          </a:p>
        </p:txBody>
      </p:sp>
      <p:pic>
        <p:nvPicPr>
          <p:cNvPr descr="Классификация атрибутов HTML тэгов" id="122" name="Google Shape;12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4941" y="1500824"/>
            <a:ext cx="7082118" cy="486895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Структурные теги</a:t>
            </a:r>
            <a:endParaRPr/>
          </a:p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13</a:t>
            </a:r>
            <a:endParaRPr/>
          </a:p>
        </p:txBody>
      </p:sp>
      <p:sp>
        <p:nvSpPr>
          <p:cNvPr id="130" name="Google Shape;130;p13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&lt;!-- --&gt; </a:t>
            </a:r>
            <a:r>
              <a:rPr lang="en-US" sz="2000"/>
              <a:t>- предназначен для добавления комментариев внутри html-разметки.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&lt;!DOCTYPE&gt; </a:t>
            </a:r>
            <a:r>
              <a:rPr lang="en-US" sz="2000"/>
              <a:t>- предназначен для указания типа текущего документа.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&lt;html&gt; </a:t>
            </a:r>
            <a:r>
              <a:rPr lang="en-US" sz="2000"/>
              <a:t>- является контейнером, заключающим в себе всё содержимое страницы.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</a:t>
            </a:r>
            <a:r>
              <a:rPr b="1" lang="en-US" sz="2000"/>
              <a:t>manifest</a:t>
            </a:r>
            <a:r>
              <a:rPr lang="en-US" sz="2000"/>
              <a:t> - реализует механизм кэширования, то есть позволяет создавать оффлайн-	приложения.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&lt;head&gt; </a:t>
            </a:r>
            <a:r>
              <a:rPr lang="en-US" sz="2000"/>
              <a:t>- предназначен для хранения элементов, цель которых - помочь браузеру в работе с данными.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&lt;body&gt; </a:t>
            </a:r>
            <a:r>
              <a:rPr lang="en-US" sz="2000"/>
              <a:t>- предназначен для хранения содержимого веб-страницы.</a:t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Структурные теги</a:t>
            </a:r>
            <a:endParaRPr/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14</a:t>
            </a:r>
            <a:endParaRPr/>
          </a:p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&lt;title&gt; </a:t>
            </a:r>
            <a:r>
              <a:rPr lang="en-US" sz="2000"/>
              <a:t>- задаёт заголовок страницы. Используется один раз внутри &lt;head&gt;.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&lt;meta&gt; </a:t>
            </a:r>
            <a:r>
              <a:rPr lang="en-US" sz="2000"/>
              <a:t>- определяет метатеги, которые нужны для хранения информации, предназначенной браузеру. Всегда расположен в &lt;head&gt;.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charset</a:t>
            </a:r>
            <a:r>
              <a:rPr lang="en-US" sz="2000"/>
              <a:t> - устанавливает кодировку текста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name</a:t>
            </a:r>
            <a:r>
              <a:rPr lang="en-US" sz="2000"/>
              <a:t> - устанавливает идентификатор метатега для пары имя=значение. Не допускается одновременно с http-equiv.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http-equiv</a:t>
            </a:r>
            <a:r>
              <a:rPr lang="en-US" sz="2000"/>
              <a:t> - аналогичен name, но браузеры преобразовывают его значение в content в формат заголовка http. Не допускается одновременно с name.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content</a:t>
            </a:r>
            <a:r>
              <a:rPr lang="en-US" sz="2000"/>
              <a:t> - устанавливает значение атрибута, заданного с помощью name или http-equiv.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Структурные теги</a:t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15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&lt;base&gt; </a:t>
            </a:r>
            <a:r>
              <a:rPr lang="en-US" sz="2000"/>
              <a:t>- инструктирует браузер о базовом адресе текущего документа для всех относительных адресов. Обязательно внутри &lt;head&gt;.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href</a:t>
            </a:r>
            <a:r>
              <a:rPr lang="en-US" sz="2000"/>
              <a:t> - базовый адрес полного пути.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&lt;base href="http://www.adress.ru/page.html"&gt;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target</a:t>
            </a:r>
            <a:r>
              <a:rPr lang="en-US" sz="2000"/>
              <a:t> - задаёт имя контекста, которое применяется для всех &lt;a&gt; и &lt;form&gt;.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&lt;base target="имя окна"&gt;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_blank - в новом окне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_self - в текущем окне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_parent - в фрейм-родитель, если такого нет, то _self</a:t>
            </a:r>
            <a:endParaRPr sz="20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_top - отменяет все фреймы и загружает в полном окне браузера, если 	фреймов нет - _self</a:t>
            </a:r>
            <a:endParaRPr sz="2000"/>
          </a:p>
        </p:txBody>
      </p:sp>
      <p:sp>
        <p:nvSpPr>
          <p:cNvPr id="147" name="Google Shape;147;p15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Структурные теги</a:t>
            </a:r>
            <a:endParaRPr/>
          </a:p>
        </p:txBody>
      </p:sp>
      <p:sp>
        <p:nvSpPr>
          <p:cNvPr id="153" name="Google Shape;153;p1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16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&lt;link&gt; </a:t>
            </a:r>
            <a:r>
              <a:rPr lang="en-US" sz="2000"/>
              <a:t>- устанавливает связь с внешним документом типа стилей или шрифтов.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Всегда размещается в теге &lt;head&gt;.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href</a:t>
            </a:r>
            <a:r>
              <a:rPr lang="en-US" sz="2000"/>
              <a:t> - указывает путь к необходимому файлу.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media</a:t>
            </a:r>
            <a:r>
              <a:rPr lang="en-US" sz="2000"/>
              <a:t> - определяет устройство, для которого применять данные стили.</a:t>
            </a:r>
            <a:endParaRPr sz="20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&lt;link media="all | braille | handheld | print | screen | speech | projection | tty | tv“&gt;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rel</a:t>
            </a:r>
            <a:r>
              <a:rPr lang="en-US" sz="2000"/>
              <a:t> - определяет тип подключаемого документа</a:t>
            </a:r>
            <a:endParaRPr sz="20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type</a:t>
            </a:r>
            <a:r>
              <a:rPr lang="en-US" sz="2000"/>
              <a:t> - сообщает браузеру MIME-тип документа.</a:t>
            </a:r>
            <a:endParaRPr sz="20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&lt;style&gt; </a:t>
            </a:r>
            <a:r>
              <a:rPr lang="en-US" sz="2000"/>
              <a:t>Применяется для определения стилей веб-страницы. Обязательно внутри &lt;head&gt;.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        </a:t>
            </a:r>
            <a:r>
              <a:rPr b="1" lang="en-US" sz="2000"/>
              <a:t>media</a:t>
            </a:r>
            <a:r>
              <a:rPr lang="en-US" sz="2000"/>
              <a:t> - определяет устройство, для которого применять данные стили.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        </a:t>
            </a:r>
            <a:r>
              <a:rPr b="1" lang="en-US" sz="2000"/>
              <a:t>type</a:t>
            </a:r>
            <a:r>
              <a:rPr lang="en-US" sz="2000"/>
              <a:t> - сообщает бразуеру, какой синтаксис использовать для определения стилей.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Структурные теги</a:t>
            </a:r>
            <a:endParaRPr/>
          </a:p>
        </p:txBody>
      </p:sp>
      <p:sp>
        <p:nvSpPr>
          <p:cNvPr id="161" name="Google Shape;161;p1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17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&lt;script&gt; </a:t>
            </a:r>
            <a:r>
              <a:rPr lang="en-US" sz="2000"/>
              <a:t>- предназначен для описания скриптов. Может содержать ссылку на программу или её текст.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async</a:t>
            </a:r>
            <a:r>
              <a:rPr lang="en-US" sz="2200"/>
              <a:t> - асинхронность выполнения скрипта.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defer</a:t>
            </a:r>
            <a:r>
              <a:rPr lang="en-US" sz="2200"/>
              <a:t> - откладывает выполнение скрипта, пока вся страница не будет загружена.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src</a:t>
            </a:r>
            <a:r>
              <a:rPr lang="en-US" sz="2200"/>
              <a:t> - указывает путь на .js файл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type</a:t>
            </a:r>
            <a:r>
              <a:rPr lang="en-US" sz="2200"/>
              <a:t> - указывает MIME-тип для определённого языка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&lt;noscript&gt; </a:t>
            </a:r>
            <a:r>
              <a:rPr lang="en-US" sz="2000"/>
              <a:t>- показывает своё содержимое, если браузер не поддерживает работу со скриптами.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Основные MIME-типы</a:t>
            </a:r>
            <a:endParaRPr/>
          </a:p>
        </p:txBody>
      </p:sp>
      <p:sp>
        <p:nvSpPr>
          <p:cNvPr id="169" name="Google Shape;169;p1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18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text/html</a:t>
            </a:r>
            <a:r>
              <a:rPr lang="en-US" sz="2800"/>
              <a:t> — HTML-код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text/css</a:t>
            </a:r>
            <a:r>
              <a:rPr lang="en-US" sz="2800"/>
              <a:t> — CSS-код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text/javascript</a:t>
            </a:r>
            <a:r>
              <a:rPr lang="en-US" sz="2800"/>
              <a:t> — JavaScript-код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text/plain</a:t>
            </a:r>
            <a:r>
              <a:rPr lang="en-US" sz="2800"/>
              <a:t> — простой текст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image/png</a:t>
            </a:r>
            <a:r>
              <a:rPr lang="en-US" sz="2800"/>
              <a:t> — PNG-изображение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image/jpeg</a:t>
            </a:r>
            <a:r>
              <a:rPr lang="en-US" sz="2800"/>
              <a:t> — JPG-изображение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application/json</a:t>
            </a:r>
            <a:r>
              <a:rPr lang="en-US" sz="2800"/>
              <a:t> — текст в формате JSON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/>
              <a:t>text/xml</a:t>
            </a:r>
            <a:r>
              <a:rPr lang="en-US" sz="2800"/>
              <a:t> — текст в формате XML.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Асинхронность</a:t>
            </a:r>
            <a:endParaRPr/>
          </a:p>
        </p:txBody>
      </p:sp>
      <p:sp>
        <p:nvSpPr>
          <p:cNvPr id="177" name="Google Shape;177;p1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19</a:t>
            </a:r>
            <a:endParaRPr/>
          </a:p>
        </p:txBody>
      </p:sp>
      <p:pic>
        <p:nvPicPr>
          <p:cNvPr descr="Picture background" id="178" name="Google Shape;17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623" y="1547813"/>
            <a:ext cx="6426037" cy="46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Семантика в HTML</a:t>
            </a:r>
            <a:endParaRPr/>
          </a:p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20</a:t>
            </a:r>
            <a:endParaRPr/>
          </a:p>
        </p:txBody>
      </p:sp>
      <p:pic>
        <p:nvPicPr>
          <p:cNvPr descr="Picture background" id="186" name="Google Shape;186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915" l="0" r="0" t="22274"/>
          <a:stretch/>
        </p:blipFill>
        <p:spPr>
          <a:xfrm>
            <a:off x="3016285" y="1690688"/>
            <a:ext cx="6159429" cy="458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Текстовые теги</a:t>
            </a:r>
            <a:endParaRPr/>
          </a:p>
        </p:txBody>
      </p:sp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21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838200" y="1690688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&lt;p&gt; </a:t>
            </a:r>
            <a:r>
              <a:rPr lang="en-US" sz="2000"/>
              <a:t>- определяет текстовый абзац.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&lt;h1&gt;, &lt;h2&gt;, &lt;h3&gt;, &lt;h4&gt;, &lt;h5&gt;, &lt;h6&gt; </a:t>
            </a:r>
            <a:r>
              <a:rPr lang="en-US" sz="2000"/>
              <a:t>- отвечают за иерархию разделов сайта.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Только универсальные атрибуты и события.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&lt;wbr&gt; -</a:t>
            </a:r>
            <a:r>
              <a:rPr lang="en-US" sz="2000"/>
              <a:t> указывает место в тексте, где допустимо сделать перенос строки.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&lt;br&gt; -</a:t>
            </a:r>
            <a:r>
              <a:rPr lang="en-US" sz="2000"/>
              <a:t> устанавливает перевод строки в том месте, где находится тег.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&lt;pre&gt; - </a:t>
            </a:r>
            <a:r>
              <a:rPr lang="en-US" sz="2000"/>
              <a:t>определяет блок предварительно форматированного текста. Сохраняет все пробелы между словами. Внутри допустимо применять любые теги кроме следующих: &lt;img&gt;, &lt;small&gt;, &lt;sub&gt;, &lt;sup&gt;.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&lt;sub&gt; </a:t>
            </a:r>
            <a:r>
              <a:rPr lang="en-US" sz="2000"/>
              <a:t>- отображает текст в нижнем индексе. Есть также vertical-align: sub.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&lt;sup&gt; </a:t>
            </a:r>
            <a:r>
              <a:rPr lang="en-US" sz="2000"/>
              <a:t>- отображает текст в верхнем индексе. Есть также vertical-align: sup.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.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Текстовые теги</a:t>
            </a:r>
            <a:endParaRPr/>
          </a:p>
        </p:txBody>
      </p:sp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22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46847" y="1599244"/>
            <a:ext cx="6096000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b="0" i="0" lang="en-US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"ru"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Название страницы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Хоспаде,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шо я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накодив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средненький заголовок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sup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з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sup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аголовок ж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sub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е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sub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сть ваще какой боль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wbr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шой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pre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я крутой текст, всё будет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как я хочу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pre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я крутой текст, всё будет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как я хочу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3" name="Google Shape;20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8407" y="1599244"/>
            <a:ext cx="4555393" cy="47005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Текстовые теги</a:t>
            </a:r>
            <a:endParaRPr/>
          </a:p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23</a:t>
            </a:r>
            <a:endParaRPr/>
          </a:p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838200" y="1690688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&lt;em&gt; </a:t>
            </a:r>
            <a:r>
              <a:rPr lang="en-US" sz="2000"/>
              <a:t>- выделяет текст курсивом.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&lt;strong&gt; </a:t>
            </a:r>
            <a:r>
              <a:rPr lang="en-US" sz="2000"/>
              <a:t>- выделяет шрифт жирным начертанием.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&lt;s&gt; </a:t>
            </a:r>
            <a:r>
              <a:rPr lang="en-US" sz="2000"/>
              <a:t>- отображает текст перечёркнутым.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&lt;tt&gt; </a:t>
            </a:r>
            <a:r>
              <a:rPr lang="en-US" sz="2000"/>
              <a:t>- отображает текст моноширинным текстом.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&lt;bdi&gt; (Bi-Directional Isolation)</a:t>
            </a:r>
            <a:r>
              <a:rPr lang="en-US" sz="2000"/>
              <a:t>- позволяет фиксировать направление текста на странице.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&lt;bdo&gt; (Bi-Directional Override) </a:t>
            </a:r>
            <a:r>
              <a:rPr lang="en-US" sz="2000"/>
              <a:t>- устанавливает направление вывода текста.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&lt;abbr&gt; </a:t>
            </a:r>
            <a:r>
              <a:rPr lang="en-US" sz="2000"/>
              <a:t>- указывает, что последовательность символов является аббревиатурой.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Текстовые теги</a:t>
            </a:r>
            <a:endParaRPr/>
          </a:p>
        </p:txBody>
      </p:sp>
      <p:sp>
        <p:nvSpPr>
          <p:cNvPr id="218" name="Google Shape;218;p2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24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838200" y="1595021"/>
            <a:ext cx="525780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b="0" i="0" lang="en-US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"ru"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Название страницы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Курсивчик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Жирный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Зачерк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нул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или нет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3838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0" name="Google Shape;220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2180" y="4668726"/>
            <a:ext cx="8227639" cy="160018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/>
          <p:nvPr/>
        </p:nvSpPr>
        <p:spPr>
          <a:xfrm>
            <a:off x="6096000" y="1595020"/>
            <a:ext cx="525780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Что за страшное слово такое моноширинный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abbr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"Реально Хороший Технический Университет"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РХТУ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abbr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bdo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"rtl"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Какое-то странное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bdi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предложение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bdi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получается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bdo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Текстовые теги</a:t>
            </a:r>
            <a:endParaRPr/>
          </a:p>
        </p:txBody>
      </p:sp>
      <p:sp>
        <p:nvSpPr>
          <p:cNvPr id="228" name="Google Shape;228;p2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25</a:t>
            </a:r>
            <a:endParaRPr sz="2800"/>
          </a:p>
        </p:txBody>
      </p: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838200" y="1690688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</a:t>
            </a:r>
            <a:r>
              <a:rPr b="1" lang="en-US" sz="2000"/>
              <a:t> &lt;a&gt; </a:t>
            </a:r>
            <a:r>
              <a:rPr lang="en-US" sz="2000"/>
              <a:t>- предназначен для создания ссылок.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accesskey</a:t>
            </a:r>
            <a:r>
              <a:rPr lang="en-US" sz="2200"/>
              <a:t> - активация ссылки с помощью комбинации клавиш.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download</a:t>
            </a:r>
            <a:r>
              <a:rPr lang="en-US" sz="2200"/>
              <a:t> - предлагает скачать указанный по ссылке файл.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href </a:t>
            </a:r>
            <a:r>
              <a:rPr lang="en-US" sz="2200"/>
              <a:t>- задаёт адрес документа, на который необходимо перейти.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hreflang</a:t>
            </a:r>
            <a:r>
              <a:rPr lang="en-US" sz="2200"/>
              <a:t> - идентефицирует язык текста по ссылке.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rel</a:t>
            </a:r>
            <a:r>
              <a:rPr lang="en-US" sz="2200"/>
              <a:t> - отношения между ссылаемым и текущим документами.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sz="2200"/>
              <a:t>	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https://microformats.org/wiki/existing-rel-values</a:t>
            </a:r>
            <a:endParaRPr sz="22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tabindex</a:t>
            </a:r>
            <a:r>
              <a:rPr lang="en-US" sz="2200"/>
              <a:t> - определяет последовательность перехода между ссылками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target</a:t>
            </a:r>
            <a:r>
              <a:rPr lang="en-US" sz="2200"/>
              <a:t> - имя окна или фрейма, куда браузер будет загружать документ.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title </a:t>
            </a:r>
            <a:r>
              <a:rPr lang="en-US" sz="2200"/>
              <a:t>- добавляет всплывающую подсказку к тексту ссылки.</a:t>
            </a:r>
            <a:endParaRPr sz="22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b="1" lang="en-US" sz="2200"/>
              <a:t>type</a:t>
            </a:r>
            <a:r>
              <a:rPr lang="en-US" sz="2200"/>
              <a:t> - указывает MIME-тип документа, на который ведет ссылка.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Семантические текстовые теги</a:t>
            </a:r>
            <a:endParaRPr/>
          </a:p>
        </p:txBody>
      </p:sp>
      <p:sp>
        <p:nvSpPr>
          <p:cNvPr id="236" name="Google Shape;236;p2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26</a:t>
            </a:r>
            <a:endParaRPr sz="2800"/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838200" y="1690688"/>
            <a:ext cx="5329518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&lt;blockquote&gt; - блочная цитата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&lt;q&gt; - цитата в текста, по умолчанию в кавычках.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&lt;cite&gt; - используется для ссылки на что-либо</a:t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775" y="3668824"/>
            <a:ext cx="5658943" cy="23366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6739190" y="1690688"/>
            <a:ext cx="60960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b="0" i="0" lang="en-US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"ru"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Название страницы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blockquote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Не гляди на ее запястья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И с плечей ее льющийся шелк.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Я искал в этой женщине счастья,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А нечаянно гибель нашел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cite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Пой же, пой...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cite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blockquote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Редко кому...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Н. Оцуп.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Семантические текстовые теги</a:t>
            </a:r>
            <a:endParaRPr/>
          </a:p>
        </p:txBody>
      </p:sp>
      <p:sp>
        <p:nvSpPr>
          <p:cNvPr id="246" name="Google Shape;246;p2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27</a:t>
            </a:r>
            <a:endParaRPr sz="2800"/>
          </a:p>
        </p:txBody>
      </p:sp>
      <p:sp>
        <p:nvSpPr>
          <p:cNvPr id="247" name="Google Shape;247;p27"/>
          <p:cNvSpPr txBox="1"/>
          <p:nvPr>
            <p:ph idx="1" type="body"/>
          </p:nvPr>
        </p:nvSpPr>
        <p:spPr>
          <a:xfrm>
            <a:off x="838200" y="1690688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&lt;del&gt; - удалённый текст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&lt;ins&gt; - добавленный текст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&lt;dfn&gt; - определения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&lt;mark&gt; - выделение важного текста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&lt;code&gt; - программный код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&lt;kbd&gt; - обозначение команд, клавиш и тегов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&lt;output&gt; - место вывода информации, обычно внутри &lt;form&gt;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&lt;samp&gt; - место вывода программы или скрипта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&lt;time&gt; - указание времени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&lt;var&gt; - переменные программного кода</a:t>
            </a:r>
            <a:endParaRPr/>
          </a:p>
        </p:txBody>
      </p:sp>
      <p:sp>
        <p:nvSpPr>
          <p:cNvPr id="248" name="Google Shape;248;p27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Списочные теги</a:t>
            </a:r>
            <a:endParaRPr/>
          </a:p>
        </p:txBody>
      </p:sp>
      <p:sp>
        <p:nvSpPr>
          <p:cNvPr id="254" name="Google Shape;254;p2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28</a:t>
            </a:r>
            <a:endParaRPr sz="2800"/>
          </a:p>
        </p:txBody>
      </p:sp>
      <p:sp>
        <p:nvSpPr>
          <p:cNvPr id="255" name="Google Shape;255;p28"/>
          <p:cNvSpPr txBox="1"/>
          <p:nvPr>
            <p:ph idx="1" type="body"/>
          </p:nvPr>
        </p:nvSpPr>
        <p:spPr>
          <a:xfrm>
            <a:off x="838200" y="1690688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&lt;ul&gt; </a:t>
            </a:r>
            <a:r>
              <a:rPr lang="en-US" sz="2000"/>
              <a:t>- маркированный список.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&lt;ol&gt; - </a:t>
            </a:r>
            <a:r>
              <a:rPr lang="en-US" sz="2000"/>
              <a:t>нумерованный список.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       </a:t>
            </a:r>
            <a:r>
              <a:rPr b="1" lang="en-US" sz="2000"/>
              <a:t> type </a:t>
            </a:r>
            <a:r>
              <a:rPr lang="en-US" sz="2000"/>
              <a:t>- устанавливает тип маркеров.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&lt;ol type="A | a | I | i | 1"&gt;...&lt;/ol&gt;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A - заглавные латинские буквы.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а - строчный латинские буквы.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I - заглавные римские цифры.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i - строчные римские цифры.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	1 - арабские цифры.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        </a:t>
            </a:r>
            <a:r>
              <a:rPr b="1" lang="en-US" sz="2000"/>
              <a:t>reversed</a:t>
            </a:r>
            <a:r>
              <a:rPr lang="en-US" sz="2000"/>
              <a:t> - задаёт обратный порядок - элементы &lt;li&gt; выведутся в обратном порядке.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        </a:t>
            </a:r>
            <a:r>
              <a:rPr b="1" lang="en-US" sz="2000"/>
              <a:t>start</a:t>
            </a:r>
            <a:r>
              <a:rPr lang="en-US" sz="2000"/>
              <a:t> - номер, с которого будет начинаться список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&lt;li&gt; </a:t>
            </a:r>
            <a:r>
              <a:rPr lang="en-US" sz="2000"/>
              <a:t>- отдельный элемент списка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Списочные теги</a:t>
            </a:r>
            <a:endParaRPr/>
          </a:p>
        </p:txBody>
      </p:sp>
      <p:sp>
        <p:nvSpPr>
          <p:cNvPr id="262" name="Google Shape;262;p2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29</a:t>
            </a:r>
            <a:endParaRPr sz="2800"/>
          </a:p>
        </p:txBody>
      </p:sp>
      <p:sp>
        <p:nvSpPr>
          <p:cNvPr id="263" name="Google Shape;263;p29"/>
          <p:cNvSpPr/>
          <p:nvPr/>
        </p:nvSpPr>
        <p:spPr>
          <a:xfrm>
            <a:off x="1813626" y="1690688"/>
            <a:ext cx="3877235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JavaScript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Swift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JavaScript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Swift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reversed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JavaScript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Swift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6287" y="1690688"/>
            <a:ext cx="4955426" cy="437139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Списочные теги</a:t>
            </a:r>
            <a:endParaRPr/>
          </a:p>
        </p:txBody>
      </p:sp>
      <p:sp>
        <p:nvSpPr>
          <p:cNvPr id="271" name="Google Shape;271;p3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30</a:t>
            </a:r>
            <a:endParaRPr sz="2800"/>
          </a:p>
        </p:txBody>
      </p:sp>
      <p:sp>
        <p:nvSpPr>
          <p:cNvPr id="272" name="Google Shape;272;p30"/>
          <p:cNvSpPr txBox="1"/>
          <p:nvPr>
            <p:ph idx="1" type="body"/>
          </p:nvPr>
        </p:nvSpPr>
        <p:spPr>
          <a:xfrm>
            <a:off x="838200" y="1690688"/>
            <a:ext cx="4083424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&lt;dl&gt;, &lt;dt&gt;, &lt;dd&gt; -</a:t>
            </a:r>
            <a:r>
              <a:rPr lang="en-US" sz="2000"/>
              <a:t> предназначены для создания списка определений.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&lt;dl&gt; </a:t>
            </a:r>
            <a:r>
              <a:rPr lang="en-US" sz="2000"/>
              <a:t>- контейнер, аналогичен &lt;li&gt;.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&lt;dt&gt; </a:t>
            </a:r>
            <a:r>
              <a:rPr lang="en-US" sz="2000"/>
              <a:t>- тег, создающий термин.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&lt;</a:t>
            </a:r>
            <a:r>
              <a:rPr b="1" lang="en-US" sz="2000"/>
              <a:t>dd&gt; </a:t>
            </a:r>
            <a:r>
              <a:rPr lang="en-US" sz="2000"/>
              <a:t>- тег, задающий определение термина.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6432177" y="1690688"/>
            <a:ext cx="60960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Blink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Движок в браузерах Chrome, Edge, Opera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Gecko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Движок в браузере Firefox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WebKit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Движок в браузере Apple Safari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dl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792" y="4071895"/>
            <a:ext cx="5299208" cy="229788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Таблицы</a:t>
            </a:r>
            <a:endParaRPr/>
          </a:p>
        </p:txBody>
      </p:sp>
      <p:sp>
        <p:nvSpPr>
          <p:cNvPr id="281" name="Google Shape;281;p3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31</a:t>
            </a:r>
            <a:endParaRPr sz="2800"/>
          </a:p>
        </p:txBody>
      </p:sp>
      <p:sp>
        <p:nvSpPr>
          <p:cNvPr id="282" name="Google Shape;282;p31"/>
          <p:cNvSpPr txBox="1"/>
          <p:nvPr>
            <p:ph idx="1" type="body"/>
          </p:nvPr>
        </p:nvSpPr>
        <p:spPr>
          <a:xfrm>
            <a:off x="838199" y="1690688"/>
            <a:ext cx="10515599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&lt;table&gt; </a:t>
            </a:r>
            <a:r>
              <a:rPr lang="en-US" sz="2000"/>
              <a:t>- Контейнер для элементов, определяющих содержимое таблицы.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&lt;caption&gt; </a:t>
            </a:r>
            <a:r>
              <a:rPr lang="en-US" sz="2000"/>
              <a:t>- Предназначен для создания заголовка в таблице. Пишется сразу после открывающего &lt;table&gt;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&lt;thead&gt; </a:t>
            </a:r>
            <a:r>
              <a:rPr lang="en-US" sz="2000"/>
              <a:t>- Предназначен для хранения одной или нескольких строк таблицы в заголовке.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&lt;tfoot&gt; </a:t>
            </a:r>
            <a:r>
              <a:rPr lang="en-US" sz="2000"/>
              <a:t>- Предназначен для хранения одной или нескольких строк таблицы снизу.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&lt;tbody&gt; </a:t>
            </a:r>
            <a:r>
              <a:rPr lang="en-US" sz="2000"/>
              <a:t>- Предназначен для хранения одной или нескольких строк таблицы.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&lt;tr&gt; </a:t>
            </a:r>
            <a:r>
              <a:rPr lang="en-US" sz="2000"/>
              <a:t>- Контейнер для создания строки таблицы.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&lt;th&gt; </a:t>
            </a:r>
            <a:r>
              <a:rPr lang="en-US" sz="2000"/>
              <a:t>- Полностью аналогичен &lt;td&gt;, но для заголовков таблицы.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&lt;td&gt; </a:t>
            </a:r>
            <a:r>
              <a:rPr lang="en-US" sz="2000"/>
              <a:t>- Контейнер для содержимого одной ячейки определённой строчки tr.</a:t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Таблицы</a:t>
            </a:r>
            <a:endParaRPr/>
          </a:p>
        </p:txBody>
      </p:sp>
      <p:sp>
        <p:nvSpPr>
          <p:cNvPr id="289" name="Google Shape;289;p3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32</a:t>
            </a:r>
            <a:endParaRPr sz="2800"/>
          </a:p>
        </p:txBody>
      </p:sp>
      <p:sp>
        <p:nvSpPr>
          <p:cNvPr id="290" name="Google Shape;290;p32"/>
          <p:cNvSpPr/>
          <p:nvPr/>
        </p:nvSpPr>
        <p:spPr>
          <a:xfrm>
            <a:off x="838200" y="1690688"/>
            <a:ext cx="5087471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caption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Название таблицы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caption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Заголовок 1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Заголовок 2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thead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rowspan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rowspan="2"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rowspan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rowspan="2"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32"/>
          <p:cNvSpPr/>
          <p:nvPr/>
        </p:nvSpPr>
        <p:spPr>
          <a:xfrm>
            <a:off x="6096000" y="1690688"/>
            <a:ext cx="60960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tfoot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colspan="2"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tfoot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292" name="Google Shape;2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3069" y="3904189"/>
            <a:ext cx="4706953" cy="206797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2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Таблицы</a:t>
            </a:r>
            <a:endParaRPr/>
          </a:p>
        </p:txBody>
      </p:sp>
      <p:sp>
        <p:nvSpPr>
          <p:cNvPr id="299" name="Google Shape;299;p3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33</a:t>
            </a:r>
            <a:endParaRPr sz="2800"/>
          </a:p>
        </p:txBody>
      </p:sp>
      <p:sp>
        <p:nvSpPr>
          <p:cNvPr id="300" name="Google Shape;300;p33"/>
          <p:cNvSpPr txBox="1"/>
          <p:nvPr>
            <p:ph idx="1" type="body"/>
          </p:nvPr>
        </p:nvSpPr>
        <p:spPr>
          <a:xfrm>
            <a:off x="838199" y="1690688"/>
            <a:ext cx="4522695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&lt;col&gt; - задаёт характеристики одной или нескольких колонок таблицы.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&lt;colgroup&gt; - аналогично задаёт стили, как и &lt;col&gt;. Аналогично можно использовать для задания стилей нескольких тегов &lt;col&gt;</a:t>
            </a:r>
            <a:endParaRPr sz="2000"/>
          </a:p>
        </p:txBody>
      </p:sp>
      <p:sp>
        <p:nvSpPr>
          <p:cNvPr id="301" name="Google Shape;301;p33"/>
          <p:cNvSpPr/>
          <p:nvPr/>
        </p:nvSpPr>
        <p:spPr>
          <a:xfrm>
            <a:off x="5710517" y="1101694"/>
            <a:ext cx="6668766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colgroup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"background:yellow;"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colgroup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colgroup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"width: 150px;"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"3"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"background:red;"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"background:green;"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colgroup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&amp;nbsp;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1995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6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2" name="Google Shape;3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8" y="4788672"/>
            <a:ext cx="10473055" cy="126210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3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Медиа</a:t>
            </a:r>
            <a:endParaRPr/>
          </a:p>
        </p:txBody>
      </p:sp>
      <p:sp>
        <p:nvSpPr>
          <p:cNvPr id="309" name="Google Shape;309;p3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34</a:t>
            </a:r>
            <a:endParaRPr sz="2800"/>
          </a:p>
        </p:txBody>
      </p:sp>
      <p:sp>
        <p:nvSpPr>
          <p:cNvPr id="310" name="Google Shape;310;p34"/>
          <p:cNvSpPr txBox="1"/>
          <p:nvPr>
            <p:ph idx="1" type="body"/>
          </p:nvPr>
        </p:nvSpPr>
        <p:spPr>
          <a:xfrm>
            <a:off x="838200" y="1564481"/>
            <a:ext cx="727486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 sz="1800"/>
              <a:t>• &lt;audio&gt; </a:t>
            </a:r>
            <a:r>
              <a:rPr lang="en-US" sz="1800"/>
              <a:t>- отвечает за работу с аудиозаписями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autoplay</a:t>
            </a:r>
            <a:r>
              <a:rPr lang="en-US"/>
              <a:t> - звук начинает играть сразу после загрузки страницы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controls</a:t>
            </a:r>
            <a:r>
              <a:rPr lang="en-US"/>
              <a:t> - добавляет панель управления к аудиофайлу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loop</a:t>
            </a:r>
            <a:r>
              <a:rPr lang="en-US"/>
              <a:t> - повторяет воспроизведение звука после завершения аудио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preload </a:t>
            </a:r>
            <a:r>
              <a:rPr lang="en-US"/>
              <a:t>- используется для загрузки аудио при загрузке веб-страницы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	&lt;audio preload="none | metadata | auto"&gt;&lt;/audio&gt;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	metadata</a:t>
            </a:r>
            <a:r>
              <a:rPr lang="en-US"/>
              <a:t> - только служебная информация (длительность и др.)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	auto</a:t>
            </a:r>
            <a:r>
              <a:rPr lang="en-US"/>
              <a:t> - всё сразу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src </a:t>
            </a:r>
            <a:r>
              <a:rPr lang="en-US"/>
              <a:t>- путь к воспроизводимому файлу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 sz="1800"/>
              <a:t>• &lt;video&gt; </a:t>
            </a:r>
            <a:r>
              <a:rPr lang="en-US" sz="1800"/>
              <a:t>- добавляет и воспроизводит видео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autoplay, controls, loop, preload </a:t>
            </a:r>
            <a:r>
              <a:rPr lang="en-US"/>
              <a:t>- те же самые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poster</a:t>
            </a:r>
            <a:r>
              <a:rPr lang="en-US"/>
              <a:t> - указывает адрес картинки, которая будет, пока видео не доступно или не воспроизводится.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height</a:t>
            </a:r>
            <a:r>
              <a:rPr lang="en-US"/>
              <a:t> - задаёт высоту видео.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b="1" lang="en-US"/>
              <a:t>width</a:t>
            </a:r>
            <a:r>
              <a:rPr lang="en-US"/>
              <a:t> - задаёт ширину тега видео.</a:t>
            </a:r>
            <a:endParaRPr/>
          </a:p>
        </p:txBody>
      </p:sp>
      <p:sp>
        <p:nvSpPr>
          <p:cNvPr id="311" name="Google Shape;311;p34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Медиа</a:t>
            </a:r>
            <a:endParaRPr/>
          </a:p>
        </p:txBody>
      </p:sp>
      <p:sp>
        <p:nvSpPr>
          <p:cNvPr id="317" name="Google Shape;317;p3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35</a:t>
            </a:r>
            <a:endParaRPr sz="2800"/>
          </a:p>
        </p:txBody>
      </p:sp>
      <p:pic>
        <p:nvPicPr>
          <p:cNvPr id="318" name="Google Shape;3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065298"/>
            <a:ext cx="3038899" cy="73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23957"/>
            <a:ext cx="3475379" cy="183865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5"/>
          <p:cNvSpPr/>
          <p:nvPr/>
        </p:nvSpPr>
        <p:spPr>
          <a:xfrm>
            <a:off x="762000" y="1676432"/>
            <a:ext cx="108652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video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controls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"https://vkvideo.ru/video-176294899_456246929"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video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1" name="Google Shape;321;p35"/>
          <p:cNvSpPr/>
          <p:nvPr/>
        </p:nvSpPr>
        <p:spPr>
          <a:xfrm>
            <a:off x="762000" y="4240806"/>
            <a:ext cx="125147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audio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controls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"https://music.yandex.ru/album/15004842?from=serp_autoplay&amp;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ysclid=m72ho6gh6401114523"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audio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Изображения</a:t>
            </a:r>
            <a:endParaRPr/>
          </a:p>
        </p:txBody>
      </p:sp>
      <p:sp>
        <p:nvSpPr>
          <p:cNvPr id="328" name="Google Shape;328;p3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36</a:t>
            </a:r>
            <a:endParaRPr/>
          </a:p>
        </p:txBody>
      </p:sp>
      <p:sp>
        <p:nvSpPr>
          <p:cNvPr id="329" name="Google Shape;329;p36"/>
          <p:cNvSpPr txBox="1"/>
          <p:nvPr>
            <p:ph idx="1" type="body"/>
          </p:nvPr>
        </p:nvSpPr>
        <p:spPr>
          <a:xfrm>
            <a:off x="838199" y="1564481"/>
            <a:ext cx="10515599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&lt;img&gt; </a:t>
            </a:r>
            <a:r>
              <a:rPr lang="en-US" sz="2000"/>
              <a:t>- предназначен для отображения изображений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src</a:t>
            </a:r>
            <a:r>
              <a:rPr lang="en-US" sz="2000"/>
              <a:t> - указывает ссылку на файл изображения.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height</a:t>
            </a:r>
            <a:r>
              <a:rPr lang="en-US" sz="2000"/>
              <a:t> - задаёт высоту изображения.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width</a:t>
            </a:r>
            <a:r>
              <a:rPr lang="en-US" sz="2000"/>
              <a:t> - задаёт ширину изображения.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alt</a:t>
            </a:r>
            <a:r>
              <a:rPr lang="en-US" sz="2000"/>
              <a:t> - устанаваливает альтернативный текст (если в браузере отключена загрузка изображений).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ismap</a:t>
            </a:r>
            <a:r>
              <a:rPr lang="en-US" sz="2000"/>
              <a:t> - говорит браузеру, что рисунок является картой-изображением. Позволяет привязать ссылки к разным областям одного изображения.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usemap</a:t>
            </a:r>
            <a:r>
              <a:rPr lang="en-US" sz="2000"/>
              <a:t> - связывает между собой карту-изображение из &lt;map&gt; и изображение.</a:t>
            </a:r>
            <a:endParaRPr/>
          </a:p>
        </p:txBody>
      </p:sp>
      <p:sp>
        <p:nvSpPr>
          <p:cNvPr id="330" name="Google Shape;330;p36"/>
          <p:cNvSpPr/>
          <p:nvPr/>
        </p:nvSpPr>
        <p:spPr>
          <a:xfrm>
            <a:off x="1151963" y="4277855"/>
            <a:ext cx="1020183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"https://sun9-80.userapi.com/s/v1/ig2/QB7pxnXcLw0nmf2fkSkrnN7UNZSzftShsQ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EK3As4X0t-M6y28uxDGVFteebTnn-FW0XymtpXB_m0G2rRs8qml583.jpg?quality=95&amp;as=32x32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,48x48,72x72,108x108,160x160,240x240,360x360,480x480,540x540,640x640,720x720,1000x1000&amp;from=bu&amp;u=8QFKQRa6a7zq4hS7Qo5oDANBDPa2tzugN4haa_L2Qxg&amp;cs=1000x1000"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alt</a:t>
            </a: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"Смешной мем"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Базовые семантические блоки</a:t>
            </a:r>
            <a:endParaRPr/>
          </a:p>
        </p:txBody>
      </p:sp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37</a:t>
            </a:r>
            <a:endParaRPr/>
          </a:p>
        </p:txBody>
      </p:sp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838199" y="1564481"/>
            <a:ext cx="10515599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&lt;div&gt; </a:t>
            </a:r>
            <a:r>
              <a:rPr lang="en-US" sz="2000"/>
              <a:t>- базовый блочный элемент для выделения объекта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&lt;span&gt; </a:t>
            </a:r>
            <a:r>
              <a:rPr lang="en-US" sz="2000"/>
              <a:t>- &lt;div&gt;, но является строчным типом, то есть можно задать другой стиль для чего-либо, при этом не потеряв уже настроенное расположение элементов.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</a:t>
            </a:r>
            <a:r>
              <a:rPr b="1" lang="en-US" sz="2000"/>
              <a:t>&lt;header&gt; </a:t>
            </a:r>
            <a:r>
              <a:rPr lang="en-US" sz="2000"/>
              <a:t>- шапка сайта или раздела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&lt;nav&gt; </a:t>
            </a:r>
            <a:r>
              <a:rPr lang="en-US" sz="2000"/>
              <a:t>- Семантика div для навигации. Запрещается вкладывать в address.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&lt;main&gt; </a:t>
            </a:r>
            <a:r>
              <a:rPr lang="en-US" sz="2000"/>
              <a:t>- Семантика div для главного контента.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&lt;footer&gt; </a:t>
            </a:r>
            <a:r>
              <a:rPr lang="en-US" sz="2000"/>
              <a:t>- Семантика div для подвала сайта или раздела.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&lt;section&gt; </a:t>
            </a:r>
            <a:r>
              <a:rPr lang="en-US" sz="2000"/>
              <a:t>- Отвечает на разделение сайта на секции, содержит заголовок.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&lt;article&gt; </a:t>
            </a:r>
            <a:r>
              <a:rPr lang="en-US" sz="2000"/>
              <a:t>- Задаёт содержимое сайта вроде статьи, записи блога, товара в магазине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&lt;aside&gt; </a:t>
            </a:r>
            <a:r>
              <a:rPr lang="en-US" sz="2000"/>
              <a:t>- Определяет блок сбоку от основного контента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&lt;details&gt; </a:t>
            </a:r>
            <a:r>
              <a:rPr lang="en-US" sz="2000"/>
              <a:t>- Используется для хранения информации типа аккордеона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&lt;summary&gt; </a:t>
            </a:r>
            <a:r>
              <a:rPr lang="en-US" sz="2000"/>
              <a:t>- устанавливает заголовок для тега &lt;details&gt;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• &lt;address&gt; </a:t>
            </a:r>
            <a:r>
              <a:rPr lang="en-US" sz="2000"/>
              <a:t>- предназначен для хранения информации об авторе</a:t>
            </a:r>
            <a:endParaRPr/>
          </a:p>
        </p:txBody>
      </p:sp>
      <p:sp>
        <p:nvSpPr>
          <p:cNvPr id="339" name="Google Shape;339;p37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Базовые семантические блоки</a:t>
            </a:r>
            <a:endParaRPr/>
          </a:p>
        </p:txBody>
      </p:sp>
      <p:sp>
        <p:nvSpPr>
          <p:cNvPr id="345" name="Google Shape;345;p3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38</a:t>
            </a:r>
            <a:endParaRPr sz="2800"/>
          </a:p>
        </p:txBody>
      </p:sp>
      <p:pic>
        <p:nvPicPr>
          <p:cNvPr descr="Picture background" id="346" name="Google Shape;346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288" y="1618469"/>
            <a:ext cx="7131424" cy="475131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8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Универсальные атрибуты</a:t>
            </a:r>
            <a:endParaRPr/>
          </a:p>
        </p:txBody>
      </p:sp>
      <p:sp>
        <p:nvSpPr>
          <p:cNvPr id="353" name="Google Shape;353;p3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39</a:t>
            </a:r>
            <a:endParaRPr/>
          </a:p>
        </p:txBody>
      </p:sp>
      <p:sp>
        <p:nvSpPr>
          <p:cNvPr id="354" name="Google Shape;354;p39"/>
          <p:cNvSpPr txBox="1"/>
          <p:nvPr>
            <p:ph idx="1" type="body"/>
          </p:nvPr>
        </p:nvSpPr>
        <p:spPr>
          <a:xfrm>
            <a:off x="838199" y="1564481"/>
            <a:ext cx="10515599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class </a:t>
            </a:r>
            <a:r>
              <a:rPr lang="en-US" sz="2000"/>
              <a:t>- задаёт класс блока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id </a:t>
            </a:r>
            <a:r>
              <a:rPr lang="en-US" sz="2000"/>
              <a:t>- задаёт идентификатор блока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lang</a:t>
            </a:r>
            <a:r>
              <a:rPr lang="en-US" sz="2000"/>
              <a:t> - указывает язык внутри элемента страницы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dir="rtl | ltr" </a:t>
            </a:r>
            <a:r>
              <a:rPr lang="en-US" sz="2000"/>
              <a:t>- задаёт направление отображения текста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contenteditable="true | false" </a:t>
            </a:r>
            <a:r>
              <a:rPr lang="en-US" sz="2000"/>
              <a:t>- сообщает, что элемент доступен для редактирования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title </a:t>
            </a:r>
            <a:r>
              <a:rPr lang="en-US" sz="2000"/>
              <a:t>- описывает содержимое элемента в виде всплывающей подсказки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style </a:t>
            </a:r>
            <a:r>
              <a:rPr lang="en-US" sz="2000"/>
              <a:t>- описывает стили для определённого блока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/>
              <a:t>hidden </a:t>
            </a:r>
            <a:r>
              <a:rPr lang="en-US" sz="2000"/>
              <a:t>- скрывает содержимое элемента со страницы, при этом элемент доступен через скрипты</a:t>
            </a:r>
            <a:endParaRPr/>
          </a:p>
        </p:txBody>
      </p:sp>
      <p:sp>
        <p:nvSpPr>
          <p:cNvPr id="355" name="Google Shape;355;p39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Оформление HTML-страницы</a:t>
            </a:r>
            <a:endParaRPr/>
          </a:p>
        </p:txBody>
      </p:sp>
      <p:sp>
        <p:nvSpPr>
          <p:cNvPr id="361" name="Google Shape;361;p4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40</a:t>
            </a:r>
            <a:endParaRPr/>
          </a:p>
        </p:txBody>
      </p:sp>
      <p:sp>
        <p:nvSpPr>
          <p:cNvPr id="362" name="Google Shape;362;p40"/>
          <p:cNvSpPr txBox="1"/>
          <p:nvPr>
            <p:ph idx="1" type="body"/>
          </p:nvPr>
        </p:nvSpPr>
        <p:spPr>
          <a:xfrm>
            <a:off x="838201" y="1690688"/>
            <a:ext cx="60960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CSS (Cascading Style Sheets) — это каскадные таблицы стилей, язык описания внешнего вида HTML-документа.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Для задания необходимых </a:t>
            </a:r>
            <a:r>
              <a:rPr b="1" lang="en-US" sz="2800"/>
              <a:t>свойств</a:t>
            </a:r>
            <a:r>
              <a:rPr lang="en-US" sz="2800"/>
              <a:t> можно использовать различные </a:t>
            </a:r>
            <a:r>
              <a:rPr b="1" lang="en-US" sz="2800"/>
              <a:t>селекторы</a:t>
            </a:r>
            <a:r>
              <a:rPr lang="en-US" sz="2800"/>
              <a:t>.</a:t>
            </a:r>
            <a:endParaRPr/>
          </a:p>
        </p:txBody>
      </p:sp>
      <p:sp>
        <p:nvSpPr>
          <p:cNvPr id="363" name="Google Shape;363;p40"/>
          <p:cNvSpPr/>
          <p:nvPr/>
        </p:nvSpPr>
        <p:spPr>
          <a:xfrm>
            <a:off x="6956612" y="1445339"/>
            <a:ext cx="609600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.text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green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#text1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blue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#text4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magenta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"text1"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Текст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Другой текст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Третий текст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"text4"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Ещё один текст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Последний текст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4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4" name="Google Shape;36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5883" y="4254872"/>
            <a:ext cx="1936986" cy="223800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0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Оформление HTML-страницы</a:t>
            </a:r>
            <a:endParaRPr/>
          </a:p>
        </p:txBody>
      </p:sp>
      <p:sp>
        <p:nvSpPr>
          <p:cNvPr id="371" name="Google Shape;371;p4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41</a:t>
            </a:r>
            <a:endParaRPr/>
          </a:p>
        </p:txBody>
      </p:sp>
      <p:pic>
        <p:nvPicPr>
          <p:cNvPr descr="Picture background" id="372" name="Google Shape;372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3938" l="0" r="0" t="5266"/>
          <a:stretch/>
        </p:blipFill>
        <p:spPr>
          <a:xfrm>
            <a:off x="1487055" y="1690688"/>
            <a:ext cx="9217890" cy="456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1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Стилизация текста</a:t>
            </a:r>
            <a:endParaRPr/>
          </a:p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42</a:t>
            </a:r>
            <a:endParaRPr/>
          </a:p>
        </p:txBody>
      </p:sp>
      <p:graphicFrame>
        <p:nvGraphicFramePr>
          <p:cNvPr id="380" name="Google Shape;380;p42"/>
          <p:cNvGraphicFramePr/>
          <p:nvPr/>
        </p:nvGraphicFramePr>
        <p:xfrm>
          <a:off x="838200" y="169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{6069C2B9-8E2D-4273-BD73-7E38C941B6B4}</a:tableStyleId>
              </a:tblPr>
              <a:tblGrid>
                <a:gridCol w="2812150"/>
                <a:gridCol w="7703450"/>
              </a:tblGrid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Универсальное свойство, позволяющее определить все свойства шрифта за одну декларацию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font-family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Задает семейство шрифта, которое будет использоваться для оформления текста содержимого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font-size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Определяет размер шрифта.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font-size-adjust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Позволяет контролировать размер шрифта, когда первый выбранный шрифт не доступен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font-stretch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Устанавливает более широкое или узкое начертание шрифта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font-style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Устанавливает стиль начертания шрифта - обычное, курсивное или наклонное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5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font-variant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Определяет, как следует представлять строчные буквы - делать их все прописными уменьшенного размера или оставить без изменений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  <a:tr h="5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font-weight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Устанавливает насыщенность или "жирность" начертания шрифта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5550" marB="0" marR="5550" marL="5550" anchor="ctr"/>
                </a:tc>
              </a:tr>
            </a:tbl>
          </a:graphicData>
        </a:graphic>
      </p:graphicFrame>
      <p:sp>
        <p:nvSpPr>
          <p:cNvPr id="381" name="Google Shape;381;p42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Стилизация цвета и фона</a:t>
            </a:r>
            <a:endParaRPr/>
          </a:p>
        </p:txBody>
      </p:sp>
      <p:sp>
        <p:nvSpPr>
          <p:cNvPr id="387" name="Google Shape;387;p4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43</a:t>
            </a:r>
            <a:endParaRPr/>
          </a:p>
        </p:txBody>
      </p:sp>
      <p:graphicFrame>
        <p:nvGraphicFramePr>
          <p:cNvPr id="388" name="Google Shape;388;p43"/>
          <p:cNvGraphicFramePr/>
          <p:nvPr/>
        </p:nvGraphicFramePr>
        <p:xfrm>
          <a:off x="8382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{6069C2B9-8E2D-4273-BD73-7E38C941B6B4}</a:tableStyleId>
              </a:tblPr>
              <a:tblGrid>
                <a:gridCol w="2812150"/>
                <a:gridCol w="7703450"/>
              </a:tblGrid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Короткое свойство, устанавливающее все свойства фона элемента за одну декларацию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5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background-attachment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Определяет, будет ли фоновое изображение зафиксировано, или оно будет прокручиваться вместе с остальным содержимым страницы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background-blend-mode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Устанавливает режим наложения фонового изображения элемента на фоны других элементов.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background-clip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Устанавливает область прорисовки фонового изображения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background-color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Определяет фоновый цвет элемента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background-image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Определяет фоновое изображение элемента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background-origin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Устанавливает область позиционирования фонового изображения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background-position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Задает начальное положение фонового изображения в пределах содержащего его элемента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background-repeat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Определяет, как будет повторяться фоновое изображение, установленное с помощью параметра background-image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background-size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Устанавливает размер фонового изображения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color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Это свойство определяет цвет текста элемента</a:t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4525" marB="0" marR="4525" marL="4525" anchor="ctr"/>
                </a:tc>
              </a:tr>
            </a:tbl>
          </a:graphicData>
        </a:graphic>
      </p:graphicFrame>
      <p:sp>
        <p:nvSpPr>
          <p:cNvPr id="389" name="Google Shape;389;p43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Границы и отступы блоков</a:t>
            </a:r>
            <a:endParaRPr/>
          </a:p>
        </p:txBody>
      </p:sp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44</a:t>
            </a:r>
            <a:endParaRPr/>
          </a:p>
        </p:txBody>
      </p:sp>
      <p:pic>
        <p:nvPicPr>
          <p:cNvPr descr="Picture background" id="396" name="Google Shape;3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0437" y="1561949"/>
            <a:ext cx="7731125" cy="493657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4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Границы и отступы блоков</a:t>
            </a:r>
            <a:endParaRPr/>
          </a:p>
        </p:txBody>
      </p:sp>
      <p:sp>
        <p:nvSpPr>
          <p:cNvPr id="403" name="Google Shape;403;p4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45</a:t>
            </a:r>
            <a:endParaRPr/>
          </a:p>
        </p:txBody>
      </p:sp>
      <p:sp>
        <p:nvSpPr>
          <p:cNvPr id="404" name="Google Shape;404;p45"/>
          <p:cNvSpPr/>
          <p:nvPr/>
        </p:nvSpPr>
        <p:spPr>
          <a:xfrm>
            <a:off x="8054109" y="281984"/>
            <a:ext cx="8571345" cy="629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.block1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background: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.block2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margin: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23px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border: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background: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green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.block3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background: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magenta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margin: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padding-bottom: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13px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"block1"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"block2"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"block3"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Я карта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"block3"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Я не карта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300" u="none" cap="none" strike="noStrike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5" name="Google Shape;40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8633"/>
            <a:ext cx="6535062" cy="181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6511" y="3507054"/>
            <a:ext cx="1924319" cy="149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760" y="5159367"/>
            <a:ext cx="1819529" cy="148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760" y="3516581"/>
            <a:ext cx="1819529" cy="147658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5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background" id="410" name="Google Shape;410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26511" y="5159366"/>
            <a:ext cx="2808392" cy="148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81d8c7cef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ndara"/>
              <a:buNone/>
            </a:pPr>
            <a:r>
              <a:rPr lang="en-US">
                <a:solidFill>
                  <a:schemeClr val="lt1"/>
                </a:solidFill>
              </a:rPr>
              <a:t>Система git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t/>
            </a:r>
            <a:endParaRPr/>
          </a:p>
        </p:txBody>
      </p:sp>
      <p:sp>
        <p:nvSpPr>
          <p:cNvPr id="416" name="Google Shape;416;g3c81d8c7cef_0_0"/>
          <p:cNvSpPr txBox="1"/>
          <p:nvPr>
            <p:ph idx="12" type="sldNum"/>
          </p:nvPr>
        </p:nvSpPr>
        <p:spPr>
          <a:xfrm>
            <a:off x="11353800" y="6369781"/>
            <a:ext cx="67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45</a:t>
            </a:r>
            <a:endParaRPr/>
          </a:p>
        </p:txBody>
      </p:sp>
      <p:sp>
        <p:nvSpPr>
          <p:cNvPr id="417" name="Google Shape;417;g3c81d8c7cef_0_0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c81d8c7cef_0_0"/>
          <p:cNvSpPr txBox="1"/>
          <p:nvPr/>
        </p:nvSpPr>
        <p:spPr>
          <a:xfrm>
            <a:off x="838200" y="1852626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clone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</a:t>
            </a: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&lt;ссылка&gt; 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— клонирование удалённого репозитория</a:t>
            </a:r>
            <a:endParaRPr sz="16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branch &lt;название ветки&gt;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— создание новой ветки</a:t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checkout &lt;название ветки&gt;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— переключение между ветками</a:t>
            </a:r>
            <a:endParaRPr sz="16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add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. — добавление всех файлов в индекс</a:t>
            </a:r>
            <a:endParaRPr sz="16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commit –m ‘&lt;текст коммита&gt;’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— фиксирует изменения</a:t>
            </a:r>
            <a:endParaRPr sz="16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push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— отправка изменений в удалённый репозиторий</a:t>
            </a:r>
            <a:endParaRPr sz="16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git pull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</a:t>
            </a:r>
            <a:r>
              <a:rPr b="1"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&lt;название ветки&gt;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  — получение изменений из удалённого репозитория</a:t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Все</a:t>
            </a: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 лабораторные закидываете в новый репозиторий формата &lt;N&gt;_&lt;Surname&gt;_Web с сообщением в формате #веб_дз ФамилияИО КС-2Х ЛабX мне в лс в телеграмме (@ulf_sct)</a:t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#веб_дз СидоренкоНВ МК-20 Лаб1</a:t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ndara"/>
                <a:ea typeface="Candara"/>
                <a:cs typeface="Candara"/>
                <a:sym typeface="Candara"/>
                <a:hlinkClick r:id="rId3"/>
              </a:rPr>
              <a:t>https://github.com/UlfSct/1_Sidorenko_Web.git</a:t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000"/>
              <a:buFont typeface="Candara"/>
              <a:buChar char="●"/>
            </a:pPr>
            <a:r>
              <a:rPr lang="en-US" sz="2000">
                <a:solidFill>
                  <a:srgbClr val="17406D"/>
                </a:solidFill>
                <a:latin typeface="Candara"/>
                <a:ea typeface="Candara"/>
                <a:cs typeface="Candara"/>
                <a:sym typeface="Candara"/>
              </a:rPr>
              <a:t>На каждую лабораторную лучше создавать папочку с соответствующим номером внутри репозитория</a:t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7406D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Задание к лабораторной работе №1</a:t>
            </a:r>
            <a:endParaRPr/>
          </a:p>
        </p:txBody>
      </p:sp>
      <p:sp>
        <p:nvSpPr>
          <p:cNvPr id="424" name="Google Shape;424;p4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46</a:t>
            </a:r>
            <a:endParaRPr/>
          </a:p>
        </p:txBody>
      </p:sp>
      <p:sp>
        <p:nvSpPr>
          <p:cNvPr id="425" name="Google Shape;425;p46"/>
          <p:cNvSpPr txBox="1"/>
          <p:nvPr>
            <p:ph idx="1" type="body"/>
          </p:nvPr>
        </p:nvSpPr>
        <p:spPr>
          <a:xfrm>
            <a:off x="838200" y="1690702"/>
            <a:ext cx="10515600" cy="42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Номер варианта </a:t>
            </a:r>
            <a:r>
              <a:rPr b="1" lang="en-US" sz="1900"/>
              <a:t>N</a:t>
            </a:r>
            <a:r>
              <a:rPr lang="en-US" sz="1900"/>
              <a:t> в журнале</a:t>
            </a:r>
            <a:br>
              <a:rPr lang="en-US" sz="1900"/>
            </a:br>
            <a:br>
              <a:rPr lang="en-US" sz="1900"/>
            </a:br>
            <a:r>
              <a:rPr lang="en-US" sz="1900"/>
              <a:t>Реализовать одностраничный сайт, содержащий в себе: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	• Минимум 3 смешных анекдота с иллюстрациями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	• Описание последнего “употреблённого” контента (книга/фильм/видео на ютуб)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	• Ваш личный отзыв на контент в п.2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	• Минимум 3 цитаты из контента в п.2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	• Расписание матчей команды РПЛ, находящейся под номером (N % 16) + 1 в турнирной 	таблице на данный момент на январь-февраль с итоговым счётом и временем 	проведения (прил. 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Всё содержимое тега &lt;body&gt; должно соответствовать семантическим нормам разметки.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В ходе выполнения данной работы обязательно использовать: списки, таблицы, изображения. Стили документа должны быть максимально минимизированы. Содержимое тега &lt;style&gt; должно содержать минимально 100 строчек свойств.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1900"/>
              <a:t>На текущий момент делаем всё в одном файле index.html, вынесение стилей поощряется, но не обязательно 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1900"/>
          </a:p>
        </p:txBody>
      </p:sp>
      <p:sp>
        <p:nvSpPr>
          <p:cNvPr id="426" name="Google Shape;426;p46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Приложение 1</a:t>
            </a:r>
            <a:br>
              <a:rPr lang="en-US"/>
            </a:br>
            <a:r>
              <a:rPr lang="en-US" sz="2000"/>
              <a:t>Турнирная таблица РПЛ</a:t>
            </a:r>
            <a:endParaRPr/>
          </a:p>
        </p:txBody>
      </p:sp>
      <p:sp>
        <p:nvSpPr>
          <p:cNvPr id="432" name="Google Shape;432;p4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47</a:t>
            </a:r>
            <a:endParaRPr/>
          </a:p>
        </p:txBody>
      </p:sp>
      <p:graphicFrame>
        <p:nvGraphicFramePr>
          <p:cNvPr id="433" name="Google Shape;433;p47"/>
          <p:cNvGraphicFramePr/>
          <p:nvPr/>
        </p:nvGraphicFramePr>
        <p:xfrm>
          <a:off x="838200" y="1888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{6069C2B9-8E2D-4273-BD73-7E38C941B6B4}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Позиция на 08.02 16:27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Команда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Позиция на 08.02 16:27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Команда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Краснодар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9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Акрон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2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Зенит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10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Динамо-Москва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3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Локомотив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Ростов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ПФК ЦСКА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12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Крылья советов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5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Балтика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13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Динамо Махачкала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6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Спартак-Москва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14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Пари НН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7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Рубин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15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Оренбург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  <a:tr h="33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8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Ахмат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16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Сочи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425" marB="0" marR="9425" marL="9425" anchor="ctr"/>
                </a:tc>
              </a:tr>
            </a:tbl>
          </a:graphicData>
        </a:graphic>
      </p:graphicFrame>
      <p:sp>
        <p:nvSpPr>
          <p:cNvPr id="434" name="Google Shape;434;p47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Приложение 2</a:t>
            </a:r>
            <a:br>
              <a:rPr lang="en-US"/>
            </a:br>
            <a:r>
              <a:rPr lang="en-US" sz="2000"/>
              <a:t>Полезные ссылки</a:t>
            </a:r>
            <a:endParaRPr/>
          </a:p>
        </p:txBody>
      </p:sp>
      <p:sp>
        <p:nvSpPr>
          <p:cNvPr id="440" name="Google Shape;440;p4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48</a:t>
            </a:r>
            <a:endParaRPr/>
          </a:p>
        </p:txBody>
      </p:sp>
      <p:sp>
        <p:nvSpPr>
          <p:cNvPr id="441" name="Google Shape;441;p48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Справочник HTML тегов (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https://htmlbook.ru/</a:t>
            </a:r>
            <a:r>
              <a:rPr lang="en-US" sz="2000"/>
              <a:t>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Клоунский компендиум HTML в .txt (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https://github.com/UlfSct/html-compendium_RU</a:t>
            </a:r>
            <a:r>
              <a:rPr lang="en-US" sz="2000"/>
              <a:t>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Справочник CSS свойств (</a:t>
            </a:r>
            <a:r>
              <a:rPr lang="en-US" sz="2000" u="sng">
                <a:solidFill>
                  <a:schemeClr val="hlink"/>
                </a:solidFill>
                <a:hlinkClick r:id="rId5"/>
              </a:rPr>
              <a:t>https://basicweb.ru/css/css_ref.php</a:t>
            </a:r>
            <a:r>
              <a:rPr lang="en-US" sz="2000"/>
              <a:t>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Удобное визуальное представление CSS свойств (</a:t>
            </a:r>
            <a:r>
              <a:rPr lang="en-US" sz="2000" u="sng">
                <a:solidFill>
                  <a:schemeClr val="hlink"/>
                </a:solidFill>
                <a:hlinkClick r:id="rId6"/>
              </a:rPr>
              <a:t>http://xahlee.info/js/css_index.html</a:t>
            </a:r>
            <a:r>
              <a:rPr lang="en-US" sz="2000"/>
              <a:t>)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/>
              <a:t>• Лучшая документация по вебу в целом (</a:t>
            </a:r>
            <a:r>
              <a:rPr lang="en-US" sz="2000" u="sng">
                <a:solidFill>
                  <a:schemeClr val="hlink"/>
                </a:solidFill>
                <a:hlinkClick r:id="rId7"/>
              </a:rPr>
              <a:t>https://developer.mozilla.org/ru/</a:t>
            </a:r>
            <a:r>
              <a:rPr lang="en-US" sz="2000"/>
              <a:t>)</a:t>
            </a:r>
            <a:endParaRPr sz="2000"/>
          </a:p>
        </p:txBody>
      </p:sp>
      <p:sp>
        <p:nvSpPr>
          <p:cNvPr id="442" name="Google Shape;442;p48"/>
          <p:cNvSpPr/>
          <p:nvPr/>
        </p:nvSpPr>
        <p:spPr>
          <a:xfrm>
            <a:off x="11850624" y="-2824"/>
            <a:ext cx="341376" cy="880648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type="title"/>
          </p:nvPr>
        </p:nvSpPr>
        <p:spPr>
          <a:xfrm>
            <a:off x="2550459" y="2471831"/>
            <a:ext cx="645907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en-US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Шаблон 2">
  <a:themeElements>
    <a:clrScheme name="Другая 8">
      <a:dk1>
        <a:srgbClr val="FFFFFF"/>
      </a:dk1>
      <a:lt1>
        <a:srgbClr val="17406D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2023-07-28T09:10:36Z</dcterms:created>
  <dc:creator>Королева Таисия Викторовна</dc:creator>
</cp:coreProperties>
</file>