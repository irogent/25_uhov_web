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Candara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jIpw00JnPSB7izR2Jt9wG4xY0O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9E0E3D-3EA5-4BD2-A694-3E377654D217}">
  <a:tblStyle styleId="{5D9E0E3D-3EA5-4BD2-A694-3E377654D217}" styleName="Table_0">
    <a:wholeTbl>
      <a:tcTxStyle b="off" i="off">
        <a:font>
          <a:latin typeface="Candara"/>
          <a:ea typeface="Candara"/>
          <a:cs typeface="Candar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 b="off" i="off"/>
      <a:tcStyle>
        <a:fill>
          <a:solidFill>
            <a:srgbClr val="CA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4EA"/>
          </a:solidFill>
        </a:fill>
      </a:tcStyle>
    </a:band1V>
    <a:band2V>
      <a:tcTxStyle b="off" i="off"/>
    </a:band2V>
    <a:lastCol>
      <a:tcTxStyle b="on" i="off">
        <a:font>
          <a:latin typeface="Candara"/>
          <a:ea typeface="Candara"/>
          <a:cs typeface="Candar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ndara"/>
          <a:ea typeface="Candara"/>
          <a:cs typeface="Candar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Candara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Candara-italic.fntdata"/><Relationship Id="rId23" Type="http://schemas.openxmlformats.org/officeDocument/2006/relationships/slide" Target="slides/slide18.xml"/><Relationship Id="rId45" Type="http://schemas.openxmlformats.org/officeDocument/2006/relationships/font" Target="fonts/Candar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Candara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81e0fe1f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c81e0fe1f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0"/>
          <p:cNvSpPr txBox="1"/>
          <p:nvPr>
            <p:ph type="ctrTitle"/>
          </p:nvPr>
        </p:nvSpPr>
        <p:spPr>
          <a:xfrm>
            <a:off x="1524000" y="126960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ndara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" type="subTitle"/>
          </p:nvPr>
        </p:nvSpPr>
        <p:spPr>
          <a:xfrm>
            <a:off x="1524000" y="37980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40"/>
          <p:cNvSpPr txBox="1"/>
          <p:nvPr>
            <p:ph idx="2" type="body"/>
          </p:nvPr>
        </p:nvSpPr>
        <p:spPr>
          <a:xfrm>
            <a:off x="114300" y="5735637"/>
            <a:ext cx="3296810" cy="1023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2" type="sldNum"/>
          </p:nvPr>
        </p:nvSpPr>
        <p:spPr>
          <a:xfrm>
            <a:off x="16234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Номер слайда</a:t>
            </a:r>
            <a:endParaRPr/>
          </a:p>
        </p:txBody>
      </p:sp>
      <p:sp>
        <p:nvSpPr>
          <p:cNvPr id="20" name="Google Shape;20;p41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2" type="body"/>
          </p:nvPr>
        </p:nvSpPr>
        <p:spPr>
          <a:xfrm>
            <a:off x="7156174" y="6369049"/>
            <a:ext cx="4873901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 b="0" i="0" sz="4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2" type="sldNum"/>
          </p:nvPr>
        </p:nvSpPr>
        <p:spPr>
          <a:xfrm>
            <a:off x="16234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Номер слайда</a:t>
            </a:r>
            <a:endParaRPr/>
          </a:p>
        </p:txBody>
      </p:sp>
      <p:sp>
        <p:nvSpPr>
          <p:cNvPr id="12" name="Google Shape;12;p39"/>
          <p:cNvSpPr txBox="1"/>
          <p:nvPr>
            <p:ph idx="1" type="body"/>
          </p:nvPr>
        </p:nvSpPr>
        <p:spPr>
          <a:xfrm>
            <a:off x="838201" y="1976850"/>
            <a:ext cx="10515600" cy="3756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50.png"/><Relationship Id="rId5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9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6.png"/><Relationship Id="rId4" Type="http://schemas.openxmlformats.org/officeDocument/2006/relationships/image" Target="../media/image55.png"/><Relationship Id="rId5" Type="http://schemas.openxmlformats.org/officeDocument/2006/relationships/image" Target="../media/image7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5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4.png"/><Relationship Id="rId4" Type="http://schemas.openxmlformats.org/officeDocument/2006/relationships/image" Target="../media/image72.png"/><Relationship Id="rId5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Relationship Id="rId4" Type="http://schemas.openxmlformats.org/officeDocument/2006/relationships/image" Target="../media/image87.png"/><Relationship Id="rId5" Type="http://schemas.openxmlformats.org/officeDocument/2006/relationships/image" Target="../media/image6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7.png"/><Relationship Id="rId4" Type="http://schemas.openxmlformats.org/officeDocument/2006/relationships/image" Target="../media/image69.png"/><Relationship Id="rId5" Type="http://schemas.openxmlformats.org/officeDocument/2006/relationships/image" Target="../media/image7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7.png"/><Relationship Id="rId4" Type="http://schemas.openxmlformats.org/officeDocument/2006/relationships/image" Target="../media/image73.png"/><Relationship Id="rId5" Type="http://schemas.openxmlformats.org/officeDocument/2006/relationships/image" Target="../media/image9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4.png"/><Relationship Id="rId4" Type="http://schemas.openxmlformats.org/officeDocument/2006/relationships/image" Target="../media/image78.png"/><Relationship Id="rId5" Type="http://schemas.openxmlformats.org/officeDocument/2006/relationships/image" Target="../media/image80.png"/><Relationship Id="rId6" Type="http://schemas.openxmlformats.org/officeDocument/2006/relationships/image" Target="../media/image7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9.png"/><Relationship Id="rId4" Type="http://schemas.openxmlformats.org/officeDocument/2006/relationships/image" Target="../media/image83.png"/><Relationship Id="rId5" Type="http://schemas.openxmlformats.org/officeDocument/2006/relationships/image" Target="../media/image86.png"/><Relationship Id="rId6" Type="http://schemas.openxmlformats.org/officeDocument/2006/relationships/image" Target="../media/image7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82.png"/><Relationship Id="rId6" Type="http://schemas.openxmlformats.org/officeDocument/2006/relationships/image" Target="../media/image85.png"/><Relationship Id="rId7" Type="http://schemas.openxmlformats.org/officeDocument/2006/relationships/image" Target="../media/image8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1524000" y="126960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ndara"/>
              <a:buNone/>
            </a:pPr>
            <a:r>
              <a:rPr lang="ru-RU"/>
              <a:t>2</a:t>
            </a:r>
            <a:r>
              <a:rPr lang="ru-RU" sz="6000"/>
              <a:t>. </a:t>
            </a:r>
            <a:r>
              <a:rPr lang="ru-RU"/>
              <a:t>Стилизация веб-приложений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1524000" y="37980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>
                <a:solidFill>
                  <a:schemeClr val="dk1"/>
                </a:solidFill>
              </a:rPr>
              <a:t>Позиционирование, отображение, медиа-запросы</a:t>
            </a:r>
            <a:endParaRPr/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532094" cy="1941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Продвинутые селекторы</a:t>
            </a:r>
            <a:endParaRPr/>
          </a:p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</a:t>
            </a:r>
            <a:endParaRPr sz="2800"/>
          </a:p>
        </p:txBody>
      </p:sp>
      <p:sp>
        <p:nvSpPr>
          <p:cNvPr id="35" name="Google Shape;35;p2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Соседний родственный комбинатор</a:t>
            </a:r>
            <a:endParaRPr/>
          </a:p>
        </p:txBody>
      </p: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44" y="4398923"/>
            <a:ext cx="2362530" cy="9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544" y="2444564"/>
            <a:ext cx="4582164" cy="168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9946" y="2986280"/>
            <a:ext cx="1743318" cy="20672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p2"/>
          <p:cNvCxnSpPr/>
          <p:nvPr/>
        </p:nvCxnSpPr>
        <p:spPr>
          <a:xfrm rot="10800000">
            <a:off x="1551709" y="3953165"/>
            <a:ext cx="5357091" cy="136028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" name="Google Shape;40;p2"/>
          <p:cNvSpPr/>
          <p:nvPr/>
        </p:nvSpPr>
        <p:spPr>
          <a:xfrm>
            <a:off x="5102815" y="5126037"/>
            <a:ext cx="4115076" cy="91122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0A51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Он закрывающий, честно</a:t>
            </a:r>
            <a:br>
              <a:rPr b="0" i="0" lang="ru-RU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И дальше тоже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Продвинутые селекторы</a:t>
            </a:r>
            <a:endParaRPr/>
          </a:p>
        </p:txBody>
      </p:sp>
      <p:sp>
        <p:nvSpPr>
          <p:cNvPr id="47" name="Google Shape;47;p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</a:t>
            </a:r>
            <a:endParaRPr/>
          </a:p>
        </p:txBody>
      </p:sp>
      <p:sp>
        <p:nvSpPr>
          <p:cNvPr id="48" name="Google Shape;48;p3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Дочерний комбинатор</a:t>
            </a:r>
            <a:endParaRPr/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44" y="2657621"/>
            <a:ext cx="4610743" cy="136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544" y="4446740"/>
            <a:ext cx="2800741" cy="1019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5360" y="3253016"/>
            <a:ext cx="1771897" cy="153373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Продвинутые селекторы</a:t>
            </a:r>
            <a:endParaRPr/>
          </a:p>
        </p:txBody>
      </p:sp>
      <p:sp>
        <p:nvSpPr>
          <p:cNvPr id="58" name="Google Shape;58;p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4</a:t>
            </a:r>
            <a:endParaRPr sz="2800"/>
          </a:p>
        </p:txBody>
      </p:sp>
      <p:sp>
        <p:nvSpPr>
          <p:cNvPr id="59" name="Google Shape;59;p4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Общий родственный комбинатор</a:t>
            </a:r>
            <a:endParaRPr/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609988"/>
            <a:ext cx="7706801" cy="1409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432450"/>
            <a:ext cx="2029108" cy="1028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3392" y="4105046"/>
            <a:ext cx="4963218" cy="163852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Продвинутые селекторы</a:t>
            </a:r>
            <a:endParaRPr/>
          </a:p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5</a:t>
            </a:r>
            <a:endParaRPr sz="2800"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Комбинатор потомка</a:t>
            </a:r>
            <a:endParaRPr/>
          </a:p>
        </p:txBody>
      </p:sp>
      <p:pic>
        <p:nvPicPr>
          <p:cNvPr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470026"/>
            <a:ext cx="7411484" cy="196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0266" y="2955869"/>
            <a:ext cx="1914792" cy="990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612985"/>
            <a:ext cx="4191585" cy="154326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80" name="Google Shape;80;p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6</a:t>
            </a:r>
            <a:endParaRPr sz="2800"/>
          </a:p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display: block;</a:t>
            </a:r>
            <a:endParaRPr sz="2800"/>
          </a:p>
        </p:txBody>
      </p:sp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565595"/>
            <a:ext cx="3439005" cy="1190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4797" y="2565595"/>
            <a:ext cx="2257740" cy="265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095563"/>
            <a:ext cx="6201640" cy="13432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91" name="Google Shape;91;p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7</a:t>
            </a:r>
            <a:endParaRPr sz="2800"/>
          </a:p>
        </p:txBody>
      </p:sp>
      <p:sp>
        <p:nvSpPr>
          <p:cNvPr id="92" name="Google Shape;92;p7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display: inline-block;</a:t>
            </a:r>
            <a:endParaRPr sz="2800"/>
          </a:p>
        </p:txBody>
      </p:sp>
      <p:pic>
        <p:nvPicPr>
          <p:cNvPr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565595"/>
            <a:ext cx="3524742" cy="156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0051" y="2609413"/>
            <a:ext cx="2505425" cy="313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995769"/>
            <a:ext cx="6134956" cy="66684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02" name="Google Shape;102;p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8</a:t>
            </a:r>
            <a:endParaRPr sz="2800"/>
          </a:p>
        </p:txBody>
      </p:sp>
      <p:sp>
        <p:nvSpPr>
          <p:cNvPr id="103" name="Google Shape;103;p8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display: flex;</a:t>
            </a:r>
            <a:endParaRPr sz="2800"/>
          </a:p>
        </p:txBody>
      </p:sp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754" y="2554919"/>
            <a:ext cx="3486637" cy="1162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2864" y="2373918"/>
            <a:ext cx="2029108" cy="26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441132"/>
            <a:ext cx="6096851" cy="61921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9</a:t>
            </a:r>
            <a:endParaRPr sz="2800"/>
          </a:p>
        </p:txBody>
      </p:sp>
      <p:pic>
        <p:nvPicPr>
          <p:cNvPr id="114" name="Google Shape;11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515982"/>
            <a:ext cx="10420927" cy="470666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21" name="Google Shape;121;p10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10</a:t>
            </a:r>
            <a:endParaRPr sz="2800"/>
          </a:p>
        </p:txBody>
      </p:sp>
      <p:pic>
        <p:nvPicPr>
          <p:cNvPr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2734057" cy="4505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4380" y="1650693"/>
            <a:ext cx="6220693" cy="2181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8222" y="4081797"/>
            <a:ext cx="6096851" cy="211484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31" name="Google Shape;131;p11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11</a:t>
            </a:r>
            <a:endParaRPr sz="2800"/>
          </a:p>
        </p:txBody>
      </p:sp>
      <p:pic>
        <p:nvPicPr>
          <p:cNvPr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4380" y="1650693"/>
            <a:ext cx="6220693" cy="2181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690688"/>
            <a:ext cx="3391373" cy="4525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9643" y="4050841"/>
            <a:ext cx="6125430" cy="213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1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12</a:t>
            </a:r>
            <a:endParaRPr sz="2800"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6758048" cy="305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4821" y="1980406"/>
            <a:ext cx="3905795" cy="265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5123841"/>
            <a:ext cx="2295845" cy="1286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8823" y="5123841"/>
            <a:ext cx="1886213" cy="73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8627" y="5123841"/>
            <a:ext cx="2743583" cy="695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19663" y="5123841"/>
            <a:ext cx="1648055" cy="9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2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54" name="Google Shape;154;p1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13</a:t>
            </a:r>
            <a:endParaRPr/>
          </a:p>
        </p:txBody>
      </p:sp>
      <p:pic>
        <p:nvPicPr>
          <p:cNvPr descr="Picture background"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22273"/>
            <a:ext cx="10282382" cy="4870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14</a:t>
            </a:r>
            <a:endParaRPr sz="2800"/>
          </a:p>
        </p:txBody>
      </p:sp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1346" y="1690688"/>
            <a:ext cx="7749308" cy="496617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70" name="Google Shape;170;p19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19</a:t>
            </a:r>
            <a:endParaRPr sz="2800"/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8907118" cy="117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0737" y="3210884"/>
            <a:ext cx="2229161" cy="2800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187990"/>
            <a:ext cx="6068272" cy="7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80" name="Google Shape;180;p1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15</a:t>
            </a:r>
            <a:endParaRPr sz="2800"/>
          </a:p>
        </p:txBody>
      </p:sp>
      <p:pic>
        <p:nvPicPr>
          <p:cNvPr descr="Picture background" id="181" name="Google Shape;1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352" y="1538840"/>
            <a:ext cx="8157296" cy="48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88" name="Google Shape;188;p1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16</a:t>
            </a:r>
            <a:endParaRPr sz="2800"/>
          </a:p>
        </p:txBody>
      </p:sp>
      <p:pic>
        <p:nvPicPr>
          <p:cNvPr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585" y="1865108"/>
            <a:ext cx="2267266" cy="2924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1458" y="1865108"/>
            <a:ext cx="7039957" cy="236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8844" y="4465155"/>
            <a:ext cx="6134956" cy="1667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585" y="5802476"/>
            <a:ext cx="2172042" cy="32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199" name="Google Shape;199;p1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17</a:t>
            </a:r>
            <a:endParaRPr sz="2800"/>
          </a:p>
        </p:txBody>
      </p:sp>
      <p:pic>
        <p:nvPicPr>
          <p:cNvPr id="200" name="Google Shape;2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09" y="1690688"/>
            <a:ext cx="8545118" cy="2210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4081" y="1799997"/>
            <a:ext cx="2486372" cy="325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709" y="4348048"/>
            <a:ext cx="6154009" cy="81926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18</a:t>
            </a:r>
            <a:endParaRPr sz="2800"/>
          </a:p>
        </p:txBody>
      </p:sp>
      <p:pic>
        <p:nvPicPr>
          <p:cNvPr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8792802" cy="1114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357619"/>
            <a:ext cx="6144482" cy="333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0249" y="3182962"/>
            <a:ext cx="2086266" cy="246731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219" name="Google Shape;219;p20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20</a:t>
            </a:r>
            <a:endParaRPr sz="2800"/>
          </a:p>
        </p:txBody>
      </p:sp>
      <p:sp>
        <p:nvSpPr>
          <p:cNvPr id="220" name="Google Shape;220;p20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display: grid;</a:t>
            </a:r>
            <a:endParaRPr sz="2800"/>
          </a:p>
        </p:txBody>
      </p:sp>
      <p:pic>
        <p:nvPicPr>
          <p:cNvPr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2461949"/>
            <a:ext cx="5292885" cy="3907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450" y="2461950"/>
            <a:ext cx="2887053" cy="39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21</a:t>
            </a:r>
            <a:endParaRPr sz="2800"/>
          </a:p>
        </p:txBody>
      </p:sp>
      <p:pic>
        <p:nvPicPr>
          <p:cNvPr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3153215" cy="148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3549987"/>
            <a:ext cx="4258269" cy="2819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5003" y="1690688"/>
            <a:ext cx="7173326" cy="249589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239" name="Google Shape;239;p2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22</a:t>
            </a:r>
            <a:endParaRPr sz="2800"/>
          </a:p>
        </p:txBody>
      </p:sp>
      <p:pic>
        <p:nvPicPr>
          <p:cNvPr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3258005" cy="1514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3549987"/>
            <a:ext cx="4772691" cy="2819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6354" y="1690688"/>
            <a:ext cx="7154273" cy="25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249" name="Google Shape;249;p2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23</a:t>
            </a:r>
            <a:endParaRPr sz="2800"/>
          </a:p>
        </p:txBody>
      </p:sp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642" y="1646283"/>
            <a:ext cx="4439270" cy="490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9510" y="4421031"/>
            <a:ext cx="3334215" cy="158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7470" y="1646283"/>
            <a:ext cx="6543449" cy="223970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547" y="369755"/>
            <a:ext cx="5106113" cy="618258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Отображение блоков</a:t>
            </a:r>
            <a:endParaRPr/>
          </a:p>
        </p:txBody>
      </p:sp>
      <p:sp>
        <p:nvSpPr>
          <p:cNvPr id="260" name="Google Shape;260;p2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24</a:t>
            </a:r>
            <a:endParaRPr sz="2800"/>
          </a:p>
        </p:txBody>
      </p:sp>
      <p:pic>
        <p:nvPicPr>
          <p:cNvPr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729626"/>
            <a:ext cx="3115110" cy="1533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3816915"/>
            <a:ext cx="5812047" cy="203305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Позиционирование блоков</a:t>
            </a:r>
            <a:endParaRPr/>
          </a:p>
        </p:txBody>
      </p:sp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25</a:t>
            </a:r>
            <a:endParaRPr sz="2800"/>
          </a:p>
        </p:txBody>
      </p:sp>
      <p:sp>
        <p:nvSpPr>
          <p:cNvPr id="270" name="Google Shape;270;p25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position: static;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 sz="2800">
                <a:solidFill>
                  <a:srgbClr val="FF0000"/>
                </a:solidFill>
              </a:rPr>
              <a:t>!Игнорирует z-index, left, right, top, bottom!</a:t>
            </a:r>
            <a:endParaRPr sz="2800">
              <a:solidFill>
                <a:srgbClr val="FF0000"/>
              </a:solidFill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Позиционирование блоков</a:t>
            </a:r>
            <a:endParaRPr/>
          </a:p>
        </p:txBody>
      </p:sp>
      <p:sp>
        <p:nvSpPr>
          <p:cNvPr id="277" name="Google Shape;277;p26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26</a:t>
            </a:r>
            <a:endParaRPr sz="2800"/>
          </a:p>
        </p:txBody>
      </p:sp>
      <p:sp>
        <p:nvSpPr>
          <p:cNvPr id="278" name="Google Shape;278;p26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position: relative;</a:t>
            </a:r>
            <a:endParaRPr/>
          </a:p>
        </p:txBody>
      </p:sp>
      <p:pic>
        <p:nvPicPr>
          <p:cNvPr id="279" name="Google Shape;2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6040" y="2750849"/>
            <a:ext cx="3753374" cy="6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860606"/>
            <a:ext cx="2267266" cy="311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5654" y="4095460"/>
            <a:ext cx="2324424" cy="149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0869" y="4095460"/>
            <a:ext cx="1457528" cy="141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Позиционирование блоков</a:t>
            </a:r>
            <a:endParaRPr/>
          </a:p>
        </p:txBody>
      </p:sp>
      <p:sp>
        <p:nvSpPr>
          <p:cNvPr id="289" name="Google Shape;289;p2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27</a:t>
            </a:r>
            <a:endParaRPr sz="2800"/>
          </a:p>
        </p:txBody>
      </p:sp>
      <p:pic>
        <p:nvPicPr>
          <p:cNvPr id="290" name="Google Shape;2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9094" y="2294387"/>
            <a:ext cx="3753374" cy="6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854922"/>
            <a:ext cx="2581635" cy="3324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5131" y="3953929"/>
            <a:ext cx="2286319" cy="111458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Позиционирование блоков</a:t>
            </a:r>
            <a:endParaRPr/>
          </a:p>
        </p:txBody>
      </p: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28</a:t>
            </a:r>
            <a:endParaRPr sz="2800"/>
          </a:p>
        </p:txBody>
      </p:sp>
      <p:pic>
        <p:nvPicPr>
          <p:cNvPr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6040" y="2750849"/>
            <a:ext cx="3753374" cy="6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690688"/>
            <a:ext cx="2467319" cy="4172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1640" y="4072271"/>
            <a:ext cx="2257740" cy="142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Позиционирование блоков</a:t>
            </a:r>
            <a:endParaRPr/>
          </a:p>
        </p:txBody>
      </p:sp>
      <p:sp>
        <p:nvSpPr>
          <p:cNvPr id="309" name="Google Shape;309;p29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29</a:t>
            </a:r>
            <a:endParaRPr sz="2800"/>
          </a:p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position: absolute;</a:t>
            </a:r>
            <a:endParaRPr/>
          </a:p>
        </p:txBody>
      </p:sp>
      <p:pic>
        <p:nvPicPr>
          <p:cNvPr id="311" name="Google Shape;3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6040" y="2750849"/>
            <a:ext cx="3753374" cy="6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851080"/>
            <a:ext cx="2362530" cy="312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3705" y="4413398"/>
            <a:ext cx="2133898" cy="110505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9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Позиционирование блоков</a:t>
            </a:r>
            <a:endParaRPr/>
          </a:p>
        </p:txBody>
      </p:sp>
      <p:sp>
        <p:nvSpPr>
          <p:cNvPr id="320" name="Google Shape;320;p30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30</a:t>
            </a:r>
            <a:endParaRPr sz="2800"/>
          </a:p>
        </p:txBody>
      </p:sp>
      <p:sp>
        <p:nvSpPr>
          <p:cNvPr id="321" name="Google Shape;321;p30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position: fixed;</a:t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0620" y="433238"/>
            <a:ext cx="2248214" cy="474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66" y="2534893"/>
            <a:ext cx="4572638" cy="79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4435" y="1555327"/>
            <a:ext cx="1037066" cy="485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71797" y="1555327"/>
            <a:ext cx="1024401" cy="4853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Позиционирование блоков</a:t>
            </a:r>
            <a:endParaRPr/>
          </a:p>
        </p:txBody>
      </p:sp>
      <p:sp>
        <p:nvSpPr>
          <p:cNvPr id="332" name="Google Shape;332;p31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31</a:t>
            </a:r>
            <a:endParaRPr sz="2800"/>
          </a:p>
        </p:txBody>
      </p:sp>
      <p:sp>
        <p:nvSpPr>
          <p:cNvPr id="333" name="Google Shape;333;p31"/>
          <p:cNvSpPr txBox="1"/>
          <p:nvPr>
            <p:ph idx="1" type="body"/>
          </p:nvPr>
        </p:nvSpPr>
        <p:spPr>
          <a:xfrm>
            <a:off x="838200" y="1852613"/>
            <a:ext cx="10515600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ru-RU" sz="2800"/>
              <a:t>• position: sticky;</a:t>
            </a:r>
            <a:endParaRPr/>
          </a:p>
        </p:txBody>
      </p:sp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24" y="2340144"/>
            <a:ext cx="5068007" cy="4029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462" y="3443119"/>
            <a:ext cx="3829584" cy="6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1"/>
          <p:cNvPicPr preferRelativeResize="0"/>
          <p:nvPr/>
        </p:nvPicPr>
        <p:blipFill rotWithShape="1">
          <a:blip r:embed="rId5">
            <a:alphaModFix/>
          </a:blip>
          <a:srcRect b="1102" l="0" r="0" t="0"/>
          <a:stretch/>
        </p:blipFill>
        <p:spPr>
          <a:xfrm>
            <a:off x="8096034" y="2292445"/>
            <a:ext cx="876744" cy="3916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3375" y="2292445"/>
            <a:ext cx="801984" cy="3916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81e0fe1fc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Специальные символы</a:t>
            </a:r>
            <a:endParaRPr/>
          </a:p>
        </p:txBody>
      </p:sp>
      <p:sp>
        <p:nvSpPr>
          <p:cNvPr id="344" name="Google Shape;344;g3c81e0fe1fc_1_0"/>
          <p:cNvSpPr txBox="1"/>
          <p:nvPr>
            <p:ph idx="12" type="sldNum"/>
          </p:nvPr>
        </p:nvSpPr>
        <p:spPr>
          <a:xfrm>
            <a:off x="11353800" y="6369781"/>
            <a:ext cx="67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32</a:t>
            </a:r>
            <a:endParaRPr sz="2800"/>
          </a:p>
        </p:txBody>
      </p:sp>
      <p:pic>
        <p:nvPicPr>
          <p:cNvPr id="345" name="Google Shape;345;g3c81e0fe1f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200" y="1574225"/>
            <a:ext cx="6889600" cy="47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c81e0fe1fc_1_0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Единицы измерения</a:t>
            </a:r>
            <a:endParaRPr/>
          </a:p>
        </p:txBody>
      </p:sp>
      <p:sp>
        <p:nvSpPr>
          <p:cNvPr id="352" name="Google Shape;352;p32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33</a:t>
            </a:r>
            <a:endParaRPr sz="2800"/>
          </a:p>
        </p:txBody>
      </p:sp>
      <p:graphicFrame>
        <p:nvGraphicFramePr>
          <p:cNvPr id="353" name="Google Shape;353;p32"/>
          <p:cNvGraphicFramePr/>
          <p:nvPr/>
        </p:nvGraphicFramePr>
        <p:xfrm>
          <a:off x="838200" y="169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{5D9E0E3D-3EA5-4BD2-A694-3E377654D217}</a:tableStyleId>
              </a:tblPr>
              <a:tblGrid>
                <a:gridCol w="3475750"/>
                <a:gridCol w="7039850"/>
              </a:tblGrid>
              <a:tr h="6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lt1"/>
                          </a:solidFill>
                        </a:rPr>
                        <a:t>Единица измерения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lt1"/>
                          </a:solidFill>
                        </a:rPr>
                        <a:t>Описание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6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cm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Сантиметры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6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mm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Миллиметры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6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in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Дюймы ~2,54 см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6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px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Пиксели ~ 1/96 дюйма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6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pt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Пункты ~1/72 дюйма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6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pc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Пики 1pc=12pt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354" name="Google Shape;354;p32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Единицы измерения</a:t>
            </a:r>
            <a:endParaRPr/>
          </a:p>
        </p:txBody>
      </p:sp>
      <p:sp>
        <p:nvSpPr>
          <p:cNvPr id="360" name="Google Shape;360;p33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34</a:t>
            </a:r>
            <a:endParaRPr sz="2800"/>
          </a:p>
        </p:txBody>
      </p:sp>
      <p:graphicFrame>
        <p:nvGraphicFramePr>
          <p:cNvPr id="361" name="Google Shape;361;p33"/>
          <p:cNvGraphicFramePr/>
          <p:nvPr/>
        </p:nvGraphicFramePr>
        <p:xfrm>
          <a:off x="838200" y="1690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{5D9E0E3D-3EA5-4BD2-A694-3E377654D217}</a:tableStyleId>
              </a:tblPr>
              <a:tblGrid>
                <a:gridCol w="3475750"/>
                <a:gridCol w="7039850"/>
              </a:tblGrid>
              <a:tr h="74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lt1"/>
                          </a:solidFill>
                        </a:rPr>
                        <a:t>Единица измерения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lt1"/>
                          </a:solidFill>
                        </a:rPr>
                        <a:t>Описание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em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размер font-size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ex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высота "x" текущего шрифта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ch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ширина "0" (нуля) текущего шрифта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rem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размер font-size родителя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vw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1% ширины области видимости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vh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1% высоты области видимости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vmin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1% меньшей величины области видимости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vmax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1% большей величины области видимости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ctr"/>
                </a:tc>
              </a:tr>
              <a:tr h="4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%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lt1"/>
                          </a:solidFill>
                        </a:rPr>
                        <a:t>1 = 1% родительского элемента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362" name="Google Shape;362;p33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Медиа-запросы</a:t>
            </a:r>
            <a:endParaRPr/>
          </a:p>
        </p:txBody>
      </p:sp>
      <p:sp>
        <p:nvSpPr>
          <p:cNvPr id="368" name="Google Shape;368;p34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35</a:t>
            </a:r>
            <a:endParaRPr sz="2800"/>
          </a:p>
        </p:txBody>
      </p:sp>
      <p:pic>
        <p:nvPicPr>
          <p:cNvPr id="369" name="Google Shape;3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581194"/>
            <a:ext cx="5110018" cy="75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3236936"/>
            <a:ext cx="2800741" cy="2915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544" y="2563049"/>
            <a:ext cx="3781953" cy="52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7067" y="1581194"/>
            <a:ext cx="5443492" cy="178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7067" y="3599864"/>
            <a:ext cx="5443492" cy="176062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4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81B0E4"/>
          </a:solidFill>
          <a:ln cap="flat" cmpd="sng" w="25400">
            <a:solidFill>
              <a:srgbClr val="81B0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Структура базового проекта</a:t>
            </a:r>
            <a:endParaRPr/>
          </a:p>
        </p:txBody>
      </p:sp>
      <p:sp>
        <p:nvSpPr>
          <p:cNvPr id="380" name="Google Shape;380;p35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36</a:t>
            </a:r>
            <a:endParaRPr sz="2800"/>
          </a:p>
        </p:txBody>
      </p:sp>
      <p:pic>
        <p:nvPicPr>
          <p:cNvPr id="381" name="Google Shape;3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216" y="1804979"/>
            <a:ext cx="9031567" cy="315326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5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Задание к лабораторной работе №2</a:t>
            </a:r>
            <a:endParaRPr/>
          </a:p>
        </p:txBody>
      </p:sp>
      <p:sp>
        <p:nvSpPr>
          <p:cNvPr id="388" name="Google Shape;388;p37"/>
          <p:cNvSpPr txBox="1"/>
          <p:nvPr>
            <p:ph idx="12" type="sldNum"/>
          </p:nvPr>
        </p:nvSpPr>
        <p:spPr>
          <a:xfrm>
            <a:off x="11353800" y="6369781"/>
            <a:ext cx="6758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/>
              <a:t>37</a:t>
            </a:r>
            <a:endParaRPr sz="2800"/>
          </a:p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838200" y="1690688"/>
            <a:ext cx="10515599" cy="37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 sz="1800"/>
              <a:t>Номер варианта </a:t>
            </a:r>
            <a:r>
              <a:rPr b="1" lang="ru-RU" sz="1800"/>
              <a:t>N</a:t>
            </a:r>
            <a:r>
              <a:rPr lang="ru-RU" sz="1800"/>
              <a:t> в журнале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 sz="1800"/>
              <a:t>Выбрать любой объект и создать для него сайт-рекламу</a:t>
            </a:r>
            <a:r>
              <a:rPr lang="ru-RU" sz="1800"/>
              <a:t>. Сайт должен больше походить на надоедливую рекламу и содержать в себе: топ-5 причин почему это нужно именно тебе, дурацкие агитационные лозунги, отзывы пользователей, сомнительную рекламу по бокам (или где душе угодно).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ru-RU" sz="1800"/>
              <a:t>Наполнение сайта должно корректно отображаться от 320px (Iphone 4). В ходе выполнения работы обязательно показать знание flexbox, grid и media-запросов. Соблюдаем структуру проекта.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17406D"/>
                </a:solidFill>
              </a:rPr>
              <a:t>(Доп.) Собственное невероятное изобретение (в рамках норм приличия). Отвратительные рисунки MSPaint и.т.п. приветствуются</a:t>
            </a:r>
            <a:endParaRPr b="1" sz="1800">
              <a:solidFill>
                <a:srgbClr val="17406D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90" name="Google Shape;390;p37"/>
          <p:cNvSpPr/>
          <p:nvPr/>
        </p:nvSpPr>
        <p:spPr>
          <a:xfrm>
            <a:off x="11850624" y="-2824"/>
            <a:ext cx="341400" cy="880500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7406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type="title"/>
          </p:nvPr>
        </p:nvSpPr>
        <p:spPr>
          <a:xfrm>
            <a:off x="2550459" y="2471831"/>
            <a:ext cx="645907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</a:pPr>
            <a:r>
              <a:rPr lang="ru-RU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Шаблон 2">
  <a:themeElements>
    <a:clrScheme name="Другая 8">
      <a:dk1>
        <a:srgbClr val="FFFFFF"/>
      </a:dk1>
      <a:lt1>
        <a:srgbClr val="17406D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2023-07-28T09:10:36Z</dcterms:created>
  <dc:creator>Королева Таисия Викторовна</dc:creator>
</cp:coreProperties>
</file>